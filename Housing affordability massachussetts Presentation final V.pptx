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7"/>
  </p:notesMasterIdLst>
  <p:sldIdLst>
    <p:sldId id="256" r:id="rId2"/>
    <p:sldId id="257" r:id="rId3"/>
    <p:sldId id="258" r:id="rId4"/>
    <p:sldId id="259" r:id="rId5"/>
    <p:sldId id="260" r:id="rId6"/>
    <p:sldId id="261" r:id="rId7"/>
    <p:sldId id="269" r:id="rId8"/>
    <p:sldId id="271" r:id="rId9"/>
    <p:sldId id="272" r:id="rId10"/>
    <p:sldId id="268" r:id="rId11"/>
    <p:sldId id="273" r:id="rId12"/>
    <p:sldId id="265" r:id="rId13"/>
    <p:sldId id="263" r:id="rId14"/>
    <p:sldId id="266" r:id="rId15"/>
    <p:sldId id="267" r:id="rId16"/>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3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08" autoAdjust="0"/>
    <p:restoredTop sz="95332" autoAdjust="0"/>
  </p:normalViewPr>
  <p:slideViewPr>
    <p:cSldViewPr snapToGrid="0" snapToObjects="1">
      <p:cViewPr>
        <p:scale>
          <a:sx n="125" d="100"/>
          <a:sy n="125"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374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b="1" dirty="0" smtClean="0"/>
              <a:t>Definition: </a:t>
            </a:r>
          </a:p>
          <a:p>
            <a:r>
              <a:rPr lang="en-US" b="1" dirty="0" smtClean="0"/>
              <a:t>Permissive Zoning (</a:t>
            </a:r>
            <a:r>
              <a:rPr lang="en-US" b="1" dirty="0" err="1" smtClean="0"/>
              <a:t>treated_dupac</a:t>
            </a:r>
            <a:r>
              <a:rPr lang="en-US" b="1" dirty="0" smtClean="0"/>
              <a:t> = 1)</a:t>
            </a:r>
            <a:r>
              <a:rPr lang="en-US" dirty="0" smtClean="0"/>
              <a:t> Tracts where more than the Massachusetts median share of housing is made up of 2-4 unit buildings </a:t>
            </a:r>
            <a:r>
              <a:rPr lang="sr-Latn-RS" dirty="0" smtClean="0"/>
              <a:t>;</a:t>
            </a:r>
            <a:r>
              <a:rPr lang="sr-Latn-RS" baseline="0" dirty="0" smtClean="0"/>
              <a:t> </a:t>
            </a:r>
            <a:r>
              <a:rPr lang="en-US" dirty="0" smtClean="0"/>
              <a:t>duplexes and triplexes are allowed and present. These neighborhoods have above-average missing middle housing stock.</a:t>
            </a:r>
          </a:p>
          <a:p>
            <a:r>
              <a:rPr lang="en-US" b="1" dirty="0" smtClean="0"/>
              <a:t>Restrictive Zoning (</a:t>
            </a:r>
            <a:r>
              <a:rPr lang="en-US" b="1" dirty="0" err="1" smtClean="0"/>
              <a:t>treated_dupac</a:t>
            </a:r>
            <a:r>
              <a:rPr lang="en-US" b="1" dirty="0" smtClean="0"/>
              <a:t> = 0)</a:t>
            </a:r>
            <a:r>
              <a:rPr lang="en-US" dirty="0" smtClean="0"/>
              <a:t> Tracts where less than the Massachusetts median share of housing is made up of 2-4 unit buildings </a:t>
            </a:r>
            <a:r>
              <a:rPr lang="sr-Latn-RS" dirty="0" smtClean="0"/>
              <a:t>;</a:t>
            </a:r>
            <a:r>
              <a:rPr lang="sr-Latn-RS" baseline="0" dirty="0" smtClean="0"/>
              <a:t> </a:t>
            </a:r>
            <a:r>
              <a:rPr lang="en-US" dirty="0" smtClean="0"/>
              <a:t>neighborhoods dominated by single family detached and attached homes. Very few or no duplexes and triplexes exist.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86947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30746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1839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even before the regression you can see in the graph that high density tracts have lower average rent than low density tracts </a:t>
            </a:r>
            <a:r>
              <a:rPr lang="sr-Latn-RS" dirty="0" smtClean="0"/>
              <a:t>&gt;&gt;&gt;</a:t>
            </a:r>
            <a:r>
              <a:rPr lang="en-US" dirty="0" smtClean="0"/>
              <a:t>the regression just confirms whether that difference is statistically significant after controlling for income, poverty, and renter share</a:t>
            </a:r>
            <a:endParaRPr lang="sr-Latn-RS" dirty="0" smtClean="0"/>
          </a:p>
          <a:p>
            <a:r>
              <a:rPr lang="en-US" dirty="0" smtClean="0"/>
              <a:t>This is exactly what you would expect if zoning and housing supply affect rent. Single family only neighborhoods restrict housing supply which drives rent up. Areas with more multifamily housing have more supply which keeps rent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67332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Home values are lower (-9.7%)</a:t>
            </a:r>
            <a:r>
              <a:rPr lang="en-US" dirty="0" smtClean="0"/>
              <a:t> because single family homes in exclusive low density neighborhoods carry a premium — people pay more to live in an area zoned for only detached houses. Once you allow multifamily housing that exclusivity premium disappears and values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05755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Model 1 — Log Rent:</a:t>
            </a:r>
            <a:r>
              <a:rPr lang="en-US" dirty="0" smtClean="0"/>
              <a:t> </a:t>
            </a:r>
            <a:r>
              <a:rPr lang="en-US" dirty="0" err="1" smtClean="0"/>
              <a:t>log_rent</a:t>
            </a:r>
            <a:r>
              <a:rPr lang="en-US" dirty="0" smtClean="0"/>
              <a:t> ~ </a:t>
            </a:r>
            <a:r>
              <a:rPr lang="en-US" dirty="0" err="1" smtClean="0"/>
              <a:t>treated_dupac</a:t>
            </a:r>
            <a:r>
              <a:rPr lang="en-US" dirty="0" smtClean="0"/>
              <a:t> + </a:t>
            </a:r>
            <a:r>
              <a:rPr lang="en-US" dirty="0" err="1" smtClean="0"/>
              <a:t>log_income</a:t>
            </a:r>
            <a:r>
              <a:rPr lang="en-US" dirty="0" smtClean="0"/>
              <a:t> + </a:t>
            </a:r>
            <a:r>
              <a:rPr lang="en-US" dirty="0" err="1" smtClean="0"/>
              <a:t>renter_share</a:t>
            </a:r>
            <a:endParaRPr lang="en-US" dirty="0" smtClean="0"/>
          </a:p>
          <a:p>
            <a:r>
              <a:rPr lang="sr-Latn-RS" dirty="0" smtClean="0"/>
              <a:t>T</a:t>
            </a:r>
            <a:r>
              <a:rPr lang="en-US" dirty="0" err="1" smtClean="0"/>
              <a:t>esting</a:t>
            </a:r>
            <a:r>
              <a:rPr lang="en-US" dirty="0" smtClean="0"/>
              <a:t> whether zoning affects rent. </a:t>
            </a:r>
            <a:r>
              <a:rPr lang="en-US" dirty="0" err="1" smtClean="0"/>
              <a:t>treated_dupac</a:t>
            </a:r>
            <a:r>
              <a:rPr lang="en-US" dirty="0" smtClean="0"/>
              <a:t> is the main variable — does being a high density tract lower rent? </a:t>
            </a:r>
            <a:r>
              <a:rPr lang="en-US" dirty="0" err="1" smtClean="0"/>
              <a:t>log_income</a:t>
            </a:r>
            <a:r>
              <a:rPr lang="en-US" dirty="0" smtClean="0"/>
              <a:t> and </a:t>
            </a:r>
            <a:r>
              <a:rPr lang="en-US" dirty="0" err="1" smtClean="0"/>
              <a:t>renter_share</a:t>
            </a:r>
            <a:r>
              <a:rPr lang="en-US" dirty="0" smtClean="0"/>
              <a:t> are controls —hold them constant so you're comparing tracts that are similar in income and renter composition, only differing in zoning. Result: </a:t>
            </a:r>
            <a:r>
              <a:rPr lang="en-US" b="1" dirty="0" smtClean="0"/>
              <a:t>-3.2% lower rent</a:t>
            </a:r>
            <a:r>
              <a:rPr lang="en-US" dirty="0" smtClean="0"/>
              <a:t> in permissive zoning tracts.</a:t>
            </a:r>
            <a:endParaRPr lang="sr-Latn-RS" dirty="0" smtClean="0"/>
          </a:p>
          <a:p>
            <a:endParaRPr lang="sr-Latn-RS" dirty="0" smtClean="0"/>
          </a:p>
          <a:p>
            <a:r>
              <a:rPr lang="en-US" b="1" dirty="0" smtClean="0"/>
              <a:t>Model 2 — Log House Price:</a:t>
            </a:r>
            <a:r>
              <a:rPr lang="en-US" dirty="0" smtClean="0"/>
              <a:t> </a:t>
            </a:r>
            <a:r>
              <a:rPr lang="en-US" dirty="0" err="1" smtClean="0"/>
              <a:t>log_value</a:t>
            </a:r>
            <a:r>
              <a:rPr lang="en-US" dirty="0" smtClean="0"/>
              <a:t> ~ </a:t>
            </a:r>
            <a:r>
              <a:rPr lang="en-US" dirty="0" err="1" smtClean="0"/>
              <a:t>treated_dupac</a:t>
            </a:r>
            <a:r>
              <a:rPr lang="en-US" dirty="0" smtClean="0"/>
              <a:t> + </a:t>
            </a:r>
            <a:r>
              <a:rPr lang="en-US" dirty="0" err="1" smtClean="0"/>
              <a:t>log_income</a:t>
            </a:r>
            <a:r>
              <a:rPr lang="en-US" dirty="0" smtClean="0"/>
              <a:t> + </a:t>
            </a:r>
            <a:r>
              <a:rPr lang="en-US" dirty="0" err="1" smtClean="0"/>
              <a:t>renter_share</a:t>
            </a:r>
            <a:endParaRPr lang="en-US" dirty="0" smtClean="0"/>
          </a:p>
          <a:p>
            <a:r>
              <a:rPr lang="en-US" dirty="0" smtClean="0"/>
              <a:t>Same structure but now testing home values instead of rent. Same controls — income and renter share held constant. Result: </a:t>
            </a:r>
            <a:r>
              <a:rPr lang="en-US" b="1" dirty="0" smtClean="0"/>
              <a:t>-9.7% lower home values</a:t>
            </a:r>
            <a:r>
              <a:rPr lang="en-US" dirty="0" smtClean="0"/>
              <a:t> in permissive zoning tracts. </a:t>
            </a:r>
            <a:r>
              <a:rPr lang="sr-Latn-RS" dirty="0" smtClean="0"/>
              <a:t>S</a:t>
            </a:r>
            <a:r>
              <a:rPr lang="en-US" dirty="0" err="1" smtClean="0"/>
              <a:t>trongest</a:t>
            </a:r>
            <a:r>
              <a:rPr lang="en-US" dirty="0" smtClean="0"/>
              <a:t> and most significant finding</a:t>
            </a:r>
          </a:p>
          <a:p>
            <a:endParaRPr lang="sr-Latn-RS" dirty="0" smtClean="0"/>
          </a:p>
          <a:p>
            <a:r>
              <a:rPr lang="en-US" b="1" dirty="0" smtClean="0"/>
              <a:t>Model 3 — Multifamily Share:</a:t>
            </a:r>
            <a:r>
              <a:rPr lang="en-US" dirty="0" smtClean="0"/>
              <a:t> </a:t>
            </a:r>
            <a:r>
              <a:rPr lang="en-US" dirty="0" err="1" smtClean="0"/>
              <a:t>mf_share</a:t>
            </a:r>
            <a:r>
              <a:rPr lang="en-US" dirty="0" smtClean="0"/>
              <a:t> ~ </a:t>
            </a:r>
            <a:r>
              <a:rPr lang="en-US" dirty="0" err="1" smtClean="0"/>
              <a:t>treated_dupac</a:t>
            </a:r>
            <a:r>
              <a:rPr lang="en-US" dirty="0" smtClean="0"/>
              <a:t> + </a:t>
            </a:r>
            <a:r>
              <a:rPr lang="en-US" dirty="0" err="1" smtClean="0"/>
              <a:t>log_income</a:t>
            </a:r>
            <a:r>
              <a:rPr lang="en-US" dirty="0" smtClean="0"/>
              <a:t> + </a:t>
            </a:r>
            <a:r>
              <a:rPr lang="en-US" dirty="0" err="1" smtClean="0"/>
              <a:t>poverty_rate</a:t>
            </a:r>
            <a:endParaRPr lang="en-US" dirty="0" smtClean="0"/>
          </a:p>
          <a:p>
            <a:r>
              <a:rPr lang="en-US" dirty="0" smtClean="0"/>
              <a:t>Now testing whether permissive zoning actually produces more multifamily housing. </a:t>
            </a:r>
            <a:r>
              <a:rPr lang="sr-Latn-RS" dirty="0" smtClean="0"/>
              <a:t>S</a:t>
            </a:r>
            <a:r>
              <a:rPr lang="en-US" dirty="0" err="1" smtClean="0"/>
              <a:t>wap</a:t>
            </a:r>
            <a:r>
              <a:rPr lang="en-US" dirty="0" smtClean="0"/>
              <a:t> </a:t>
            </a:r>
            <a:r>
              <a:rPr lang="en-US" dirty="0" err="1" smtClean="0"/>
              <a:t>renter_share</a:t>
            </a:r>
            <a:r>
              <a:rPr lang="en-US" dirty="0" smtClean="0"/>
              <a:t> for </a:t>
            </a:r>
            <a:r>
              <a:rPr lang="en-US" dirty="0" err="1" smtClean="0"/>
              <a:t>poverty_rate</a:t>
            </a:r>
            <a:r>
              <a:rPr lang="en-US" dirty="0" smtClean="0"/>
              <a:t> as the control because poverty is more relevant when explaining housing stock composition. Result: </a:t>
            </a:r>
            <a:r>
              <a:rPr lang="en-US" b="1" dirty="0" smtClean="0"/>
              <a:t>30.1 percentage points more multifamily housing</a:t>
            </a:r>
            <a:r>
              <a:rPr lang="en-US" dirty="0" smtClean="0"/>
              <a:t> in permissive zoning tracts.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57B6408-7E26-4868-9972-D10041E6F917}" type="datetimeFigureOut">
              <a:rPr lang="en-US" smtClean="0"/>
              <a:t>12-May-26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12168362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7B6408-7E26-4868-9972-D10041E6F917}" type="datetimeFigureOut">
              <a:rPr lang="en-US" smtClean="0"/>
              <a:t>12-May-26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13915930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57B6408-7E26-4868-9972-D10041E6F917}" type="datetimeFigureOut">
              <a:rPr lang="en-US" smtClean="0"/>
              <a:t>12-May-26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38270810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7B6408-7E26-4868-9972-D10041E6F917}" type="datetimeFigureOut">
              <a:rPr lang="en-US" smtClean="0"/>
              <a:t>12-May-26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216377496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57B6408-7E26-4868-9972-D10041E6F917}" type="datetimeFigureOut">
              <a:rPr lang="en-US" smtClean="0"/>
              <a:t>12-May-26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176059875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57B6408-7E26-4868-9972-D10041E6F917}" type="datetimeFigureOut">
              <a:rPr lang="en-US" smtClean="0"/>
              <a:t>12-May-26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29807584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7B6408-7E26-4868-9972-D10041E6F917}" type="datetimeFigureOut">
              <a:rPr lang="en-US" smtClean="0"/>
              <a:t>12-May-26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25504040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357B6408-7E26-4868-9972-D10041E6F917}" type="datetimeFigureOut">
              <a:rPr lang="en-US" smtClean="0"/>
              <a:t>12-May-26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373855908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357B6408-7E26-4868-9972-D10041E6F917}" type="datetimeFigureOut">
              <a:rPr lang="en-US" smtClean="0"/>
              <a:t>12-May-26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33968744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7B6408-7E26-4868-9972-D10041E6F917}" type="datetimeFigureOut">
              <a:rPr lang="en-US" smtClean="0"/>
              <a:t>12-May-26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228054097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7B6408-7E26-4868-9972-D10041E6F917}" type="datetimeFigureOut">
              <a:rPr lang="en-US" smtClean="0"/>
              <a:t>12-May-26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50353A-A031-4A73-8FD8-91A2DEB6794B}" type="slidenum">
              <a:rPr lang="en-US" smtClean="0"/>
              <a:t>‹#›</a:t>
            </a:fld>
            <a:endParaRPr lang="en-US"/>
          </a:p>
        </p:txBody>
      </p:sp>
    </p:spTree>
    <p:extLst>
      <p:ext uri="{BB962C8B-B14F-4D97-AF65-F5344CB8AC3E}">
        <p14:creationId xmlns:p14="http://schemas.microsoft.com/office/powerpoint/2010/main" val="2420717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253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57B6408-7E26-4868-9972-D10041E6F917}" type="datetimeFigureOut">
              <a:rPr lang="en-US" smtClean="0"/>
              <a:t>12-May-26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550353A-A031-4A73-8FD8-91A2DEB6794B}" type="slidenum">
              <a:rPr lang="en-US" smtClean="0"/>
              <a:t>‹#›</a:t>
            </a:fld>
            <a:endParaRPr lang="en-US"/>
          </a:p>
        </p:txBody>
      </p:sp>
    </p:spTree>
    <p:extLst>
      <p:ext uri="{BB962C8B-B14F-4D97-AF65-F5344CB8AC3E}">
        <p14:creationId xmlns:p14="http://schemas.microsoft.com/office/powerpoint/2010/main" val="425942301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838"/>
          </a:solidFill>
          <a:ln w="12700">
            <a:solidFill>
              <a:srgbClr val="E8A838"/>
            </a:solidFill>
            <a:prstDash val="solid"/>
          </a:ln>
        </p:spPr>
      </p:sp>
      <p:sp>
        <p:nvSpPr>
          <p:cNvPr id="3" name="Shape 1"/>
          <p:cNvSpPr/>
          <p:nvPr/>
        </p:nvSpPr>
        <p:spPr>
          <a:xfrm>
            <a:off x="6583680" y="-457200"/>
            <a:ext cx="3657600" cy="3657600"/>
          </a:xfrm>
          <a:prstGeom prst="ellipse">
            <a:avLst/>
          </a:prstGeom>
          <a:solidFill>
            <a:srgbClr val="4A7BA7">
              <a:alpha val="30000"/>
            </a:srgbClr>
          </a:solidFill>
          <a:ln w="12700">
            <a:solidFill>
              <a:srgbClr val="4A7BA7">
                <a:alpha val="30000"/>
              </a:srgbClr>
            </a:solidFill>
            <a:prstDash val="solid"/>
          </a:ln>
        </p:spPr>
      </p:sp>
      <p:sp>
        <p:nvSpPr>
          <p:cNvPr id="4" name="Shape 2"/>
          <p:cNvSpPr/>
          <p:nvPr/>
        </p:nvSpPr>
        <p:spPr>
          <a:xfrm>
            <a:off x="7315200" y="2560320"/>
            <a:ext cx="2286000" cy="2286000"/>
          </a:xfrm>
          <a:prstGeom prst="ellipse">
            <a:avLst/>
          </a:prstGeom>
          <a:solidFill>
            <a:srgbClr val="E8A838">
              <a:alpha val="20000"/>
            </a:srgbClr>
          </a:solidFill>
          <a:ln w="12700">
            <a:solidFill>
              <a:srgbClr val="E8A838">
                <a:alpha val="20000"/>
              </a:srgbClr>
            </a:solidFill>
            <a:prstDash val="solid"/>
          </a:ln>
        </p:spPr>
      </p:sp>
      <p:sp>
        <p:nvSpPr>
          <p:cNvPr id="5" name="Text 3"/>
          <p:cNvSpPr/>
          <p:nvPr/>
        </p:nvSpPr>
        <p:spPr>
          <a:xfrm>
            <a:off x="457200" y="914400"/>
            <a:ext cx="7772400" cy="77724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Housing Affordability</a:t>
            </a:r>
            <a:endParaRPr lang="en-US" sz="4400" dirty="0"/>
          </a:p>
        </p:txBody>
      </p:sp>
      <p:sp>
        <p:nvSpPr>
          <p:cNvPr id="6" name="Text 4"/>
          <p:cNvSpPr/>
          <p:nvPr/>
        </p:nvSpPr>
        <p:spPr>
          <a:xfrm>
            <a:off x="457200" y="1691640"/>
            <a:ext cx="7772400" cy="640080"/>
          </a:xfrm>
          <a:prstGeom prst="rect">
            <a:avLst/>
          </a:prstGeom>
          <a:noFill/>
          <a:ln/>
        </p:spPr>
        <p:txBody>
          <a:bodyPr wrap="square" lIns="0" tIns="0" rIns="0" bIns="0" rtlCol="0" anchor="ctr"/>
          <a:lstStyle/>
          <a:p>
            <a:pPr marL="0" indent="0">
              <a:buNone/>
            </a:pPr>
            <a:r>
              <a:rPr lang="en-US" sz="3000" dirty="0">
                <a:solidFill>
                  <a:srgbClr val="D6E4F0"/>
                </a:solidFill>
                <a:latin typeface="Trebuchet MS" pitchFamily="34" charset="0"/>
                <a:ea typeface="Trebuchet MS" pitchFamily="34" charset="-122"/>
                <a:cs typeface="Trebuchet MS" pitchFamily="34" charset="-120"/>
              </a:rPr>
              <a:t>Massachusetts Zoning Analysis</a:t>
            </a:r>
            <a:endParaRPr lang="en-US" sz="3000" dirty="0"/>
          </a:p>
        </p:txBody>
      </p:sp>
      <p:sp>
        <p:nvSpPr>
          <p:cNvPr id="7" name="Shape 5"/>
          <p:cNvSpPr/>
          <p:nvPr/>
        </p:nvSpPr>
        <p:spPr>
          <a:xfrm>
            <a:off x="457200" y="2514600"/>
            <a:ext cx="2286000" cy="36576"/>
          </a:xfrm>
          <a:prstGeom prst="rect">
            <a:avLst/>
          </a:prstGeom>
          <a:solidFill>
            <a:srgbClr val="E8A838"/>
          </a:solidFill>
          <a:ln w="12700">
            <a:solidFill>
              <a:srgbClr val="E8A838"/>
            </a:solidFill>
            <a:prstDash val="solid"/>
          </a:ln>
        </p:spPr>
      </p:sp>
      <p:sp>
        <p:nvSpPr>
          <p:cNvPr id="8" name="Text 6"/>
          <p:cNvSpPr/>
          <p:nvPr/>
        </p:nvSpPr>
        <p:spPr>
          <a:xfrm>
            <a:off x="457200" y="2697480"/>
            <a:ext cx="8229600" cy="365760"/>
          </a:xfrm>
          <a:prstGeom prst="rect">
            <a:avLst/>
          </a:prstGeom>
          <a:noFill/>
          <a:ln/>
        </p:spPr>
        <p:txBody>
          <a:bodyPr wrap="square" lIns="0" tIns="0" rIns="0" bIns="0" rtlCol="0" anchor="ctr"/>
          <a:lstStyle/>
          <a:p>
            <a:pPr marL="0" indent="0">
              <a:buNone/>
            </a:pPr>
            <a:r>
              <a:rPr lang="en-US" sz="1300" dirty="0">
                <a:solidFill>
                  <a:srgbClr val="A0BBCC"/>
                </a:solidFill>
                <a:latin typeface="Calibri" pitchFamily="34" charset="0"/>
                <a:ea typeface="Calibri" pitchFamily="34" charset="-122"/>
                <a:cs typeface="Calibri" pitchFamily="34" charset="-120"/>
              </a:rPr>
              <a:t>Tara  ·  ECO 590  ·  Prof. Kaltenberg  ·  2026</a:t>
            </a:r>
            <a:endParaRPr lang="en-US" sz="1300" dirty="0"/>
          </a:p>
        </p:txBody>
      </p:sp>
      <p:sp>
        <p:nvSpPr>
          <p:cNvPr id="9" name="Shape 7"/>
          <p:cNvSpPr/>
          <p:nvPr/>
        </p:nvSpPr>
        <p:spPr>
          <a:xfrm>
            <a:off x="457200" y="3840480"/>
            <a:ext cx="2468880" cy="1005840"/>
          </a:xfrm>
          <a:prstGeom prst="rect">
            <a:avLst/>
          </a:prstGeom>
          <a:solidFill>
            <a:srgbClr val="4A7BA7">
              <a:alpha val="70000"/>
            </a:srgbClr>
          </a:solidFill>
          <a:ln w="12700">
            <a:solidFill>
              <a:srgbClr val="4A7BA7">
                <a:alpha val="70000"/>
              </a:srgbClr>
            </a:solidFill>
            <a:prstDash val="solid"/>
          </a:ln>
        </p:spPr>
      </p:sp>
      <p:sp>
        <p:nvSpPr>
          <p:cNvPr id="10" name="Text 8"/>
          <p:cNvSpPr/>
          <p:nvPr/>
        </p:nvSpPr>
        <p:spPr>
          <a:xfrm>
            <a:off x="457200" y="3858768"/>
            <a:ext cx="2468880" cy="548640"/>
          </a:xfrm>
          <a:prstGeom prst="rect">
            <a:avLst/>
          </a:prstGeom>
          <a:noFill/>
          <a:ln/>
        </p:spPr>
        <p:txBody>
          <a:bodyPr wrap="square" lIns="0" tIns="0" rIns="0" bIns="0" rtlCol="0" anchor="ctr"/>
          <a:lstStyle/>
          <a:p>
            <a:pPr marL="0" indent="0" algn="ctr">
              <a:buNone/>
            </a:pPr>
            <a:r>
              <a:rPr lang="en-US" sz="2200" b="1" dirty="0">
                <a:solidFill>
                  <a:srgbClr val="E8A838"/>
                </a:solidFill>
                <a:latin typeface="Trebuchet MS" pitchFamily="34" charset="0"/>
                <a:ea typeface="Trebuchet MS" pitchFamily="34" charset="-122"/>
                <a:cs typeface="Trebuchet MS" pitchFamily="34" charset="-120"/>
              </a:rPr>
              <a:t>1,439</a:t>
            </a:r>
            <a:endParaRPr lang="en-US" sz="2200" dirty="0"/>
          </a:p>
        </p:txBody>
      </p:sp>
      <p:sp>
        <p:nvSpPr>
          <p:cNvPr id="11" name="Text 9"/>
          <p:cNvSpPr/>
          <p:nvPr/>
        </p:nvSpPr>
        <p:spPr>
          <a:xfrm>
            <a:off x="457200" y="4343400"/>
            <a:ext cx="2468880" cy="320040"/>
          </a:xfrm>
          <a:prstGeom prst="rect">
            <a:avLst/>
          </a:prstGeom>
          <a:noFill/>
          <a:ln/>
        </p:spPr>
        <p:txBody>
          <a:bodyPr wrap="square" lIns="0" tIns="0" rIns="0" bIns="0" rtlCol="0" anchor="ctr"/>
          <a:lstStyle/>
          <a:p>
            <a:pPr marL="0" indent="0" algn="ctr">
              <a:buNone/>
            </a:pPr>
            <a:r>
              <a:rPr lang="en-US" sz="1100" dirty="0">
                <a:solidFill>
                  <a:srgbClr val="D6E4F0"/>
                </a:solidFill>
                <a:latin typeface="Calibri" pitchFamily="34" charset="0"/>
                <a:ea typeface="Calibri" pitchFamily="34" charset="-122"/>
                <a:cs typeface="Calibri" pitchFamily="34" charset="-120"/>
              </a:rPr>
              <a:t>Census Tracts</a:t>
            </a:r>
            <a:endParaRPr lang="en-US" sz="1100" dirty="0"/>
          </a:p>
        </p:txBody>
      </p:sp>
      <p:sp>
        <p:nvSpPr>
          <p:cNvPr id="12" name="Shape 10"/>
          <p:cNvSpPr/>
          <p:nvPr/>
        </p:nvSpPr>
        <p:spPr>
          <a:xfrm>
            <a:off x="3291840" y="3840480"/>
            <a:ext cx="2468880" cy="1005840"/>
          </a:xfrm>
          <a:prstGeom prst="rect">
            <a:avLst/>
          </a:prstGeom>
          <a:solidFill>
            <a:srgbClr val="4A7BA7">
              <a:alpha val="70000"/>
            </a:srgbClr>
          </a:solidFill>
          <a:ln w="12700">
            <a:solidFill>
              <a:srgbClr val="4A7BA7">
                <a:alpha val="70000"/>
              </a:srgbClr>
            </a:solidFill>
            <a:prstDash val="solid"/>
          </a:ln>
        </p:spPr>
      </p:sp>
      <p:sp>
        <p:nvSpPr>
          <p:cNvPr id="13" name="Text 11"/>
          <p:cNvSpPr/>
          <p:nvPr/>
        </p:nvSpPr>
        <p:spPr>
          <a:xfrm>
            <a:off x="3291840" y="3858768"/>
            <a:ext cx="2468880" cy="548640"/>
          </a:xfrm>
          <a:prstGeom prst="rect">
            <a:avLst/>
          </a:prstGeom>
          <a:noFill/>
          <a:ln/>
        </p:spPr>
        <p:txBody>
          <a:bodyPr wrap="square" lIns="0" tIns="0" rIns="0" bIns="0" rtlCol="0" anchor="ctr"/>
          <a:lstStyle/>
          <a:p>
            <a:pPr marL="0" indent="0" algn="ctr">
              <a:buNone/>
            </a:pPr>
            <a:r>
              <a:rPr lang="en-US" sz="2200" b="1" dirty="0">
                <a:solidFill>
                  <a:srgbClr val="E8A838"/>
                </a:solidFill>
                <a:latin typeface="Trebuchet MS" pitchFamily="34" charset="0"/>
                <a:ea typeface="Trebuchet MS" pitchFamily="34" charset="-122"/>
                <a:cs typeface="Trebuchet MS" pitchFamily="34" charset="-120"/>
              </a:rPr>
              <a:t>ACS 2018</a:t>
            </a:r>
            <a:endParaRPr lang="en-US" sz="2200" dirty="0"/>
          </a:p>
        </p:txBody>
      </p:sp>
      <p:sp>
        <p:nvSpPr>
          <p:cNvPr id="14" name="Text 12"/>
          <p:cNvSpPr/>
          <p:nvPr/>
        </p:nvSpPr>
        <p:spPr>
          <a:xfrm>
            <a:off x="3291840" y="4343400"/>
            <a:ext cx="2468880" cy="320040"/>
          </a:xfrm>
          <a:prstGeom prst="rect">
            <a:avLst/>
          </a:prstGeom>
          <a:noFill/>
          <a:ln/>
        </p:spPr>
        <p:txBody>
          <a:bodyPr wrap="square" lIns="0" tIns="0" rIns="0" bIns="0" rtlCol="0" anchor="ctr"/>
          <a:lstStyle/>
          <a:p>
            <a:pPr marL="0" indent="0" algn="ctr">
              <a:buNone/>
            </a:pPr>
            <a:r>
              <a:rPr lang="en-US" sz="1100" dirty="0">
                <a:solidFill>
                  <a:srgbClr val="D6E4F0"/>
                </a:solidFill>
                <a:latin typeface="Calibri" pitchFamily="34" charset="0"/>
                <a:ea typeface="Calibri" pitchFamily="34" charset="-122"/>
                <a:cs typeface="Calibri" pitchFamily="34" charset="-120"/>
              </a:rPr>
              <a:t>Data Source</a:t>
            </a:r>
            <a:endParaRPr lang="en-US" sz="1100" dirty="0"/>
          </a:p>
        </p:txBody>
      </p:sp>
      <p:sp>
        <p:nvSpPr>
          <p:cNvPr id="15" name="Shape 13"/>
          <p:cNvSpPr/>
          <p:nvPr/>
        </p:nvSpPr>
        <p:spPr>
          <a:xfrm>
            <a:off x="6126480" y="3840480"/>
            <a:ext cx="2468880" cy="1005840"/>
          </a:xfrm>
          <a:prstGeom prst="rect">
            <a:avLst/>
          </a:prstGeom>
          <a:solidFill>
            <a:srgbClr val="4A7BA7">
              <a:alpha val="70000"/>
            </a:srgbClr>
          </a:solidFill>
          <a:ln w="12700">
            <a:solidFill>
              <a:srgbClr val="4A7BA7">
                <a:alpha val="70000"/>
              </a:srgbClr>
            </a:solidFill>
            <a:prstDash val="solid"/>
          </a:ln>
        </p:spPr>
      </p:sp>
      <p:sp>
        <p:nvSpPr>
          <p:cNvPr id="16" name="Text 14"/>
          <p:cNvSpPr/>
          <p:nvPr/>
        </p:nvSpPr>
        <p:spPr>
          <a:xfrm>
            <a:off x="6126480" y="3858768"/>
            <a:ext cx="2468880" cy="548640"/>
          </a:xfrm>
          <a:prstGeom prst="rect">
            <a:avLst/>
          </a:prstGeom>
          <a:noFill/>
          <a:ln/>
        </p:spPr>
        <p:txBody>
          <a:bodyPr wrap="square" lIns="0" tIns="0" rIns="0" bIns="0" rtlCol="0" anchor="ctr"/>
          <a:lstStyle/>
          <a:p>
            <a:pPr marL="0" indent="0" algn="ctr">
              <a:buNone/>
            </a:pPr>
            <a:r>
              <a:rPr lang="en-US" sz="2200" b="1" dirty="0">
                <a:solidFill>
                  <a:srgbClr val="E8A838"/>
                </a:solidFill>
                <a:latin typeface="Trebuchet MS" pitchFamily="34" charset="0"/>
                <a:ea typeface="Trebuchet MS" pitchFamily="34" charset="-122"/>
                <a:cs typeface="Trebuchet MS" pitchFamily="34" charset="-120"/>
              </a:rPr>
              <a:t>3</a:t>
            </a:r>
            <a:endParaRPr lang="en-US" sz="2200" dirty="0"/>
          </a:p>
        </p:txBody>
      </p:sp>
      <p:sp>
        <p:nvSpPr>
          <p:cNvPr id="17" name="Text 15"/>
          <p:cNvSpPr/>
          <p:nvPr/>
        </p:nvSpPr>
        <p:spPr>
          <a:xfrm>
            <a:off x="6126480" y="4343400"/>
            <a:ext cx="2468880" cy="320040"/>
          </a:xfrm>
          <a:prstGeom prst="rect">
            <a:avLst/>
          </a:prstGeom>
          <a:noFill/>
          <a:ln/>
        </p:spPr>
        <p:txBody>
          <a:bodyPr wrap="square" lIns="0" tIns="0" rIns="0" bIns="0" rtlCol="0" anchor="ctr"/>
          <a:lstStyle/>
          <a:p>
            <a:pPr marL="0" indent="0" algn="ctr">
              <a:buNone/>
            </a:pPr>
            <a:r>
              <a:rPr lang="en-US" sz="1100" dirty="0">
                <a:solidFill>
                  <a:srgbClr val="D6E4F0"/>
                </a:solidFill>
                <a:latin typeface="Calibri" pitchFamily="34" charset="0"/>
                <a:ea typeface="Calibri" pitchFamily="34" charset="-122"/>
                <a:cs typeface="Calibri" pitchFamily="34" charset="-120"/>
              </a:rPr>
              <a:t>OLS Regressions</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w="12700">
            <a:solidFill>
              <a:srgbClr val="1B3A6B"/>
            </a:solidFill>
            <a:prstDash val="solid"/>
          </a:ln>
        </p:spPr>
      </p:sp>
      <p:sp>
        <p:nvSpPr>
          <p:cNvPr id="3" name="Text 1"/>
          <p:cNvSpPr/>
          <p:nvPr/>
        </p:nvSpPr>
        <p:spPr>
          <a:xfrm>
            <a:off x="457200" y="164592"/>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Motivation</a:t>
            </a:r>
            <a:endParaRPr lang="en-US" sz="3400" dirty="0"/>
          </a:p>
        </p:txBody>
      </p:sp>
      <p:sp>
        <p:nvSpPr>
          <p:cNvPr id="4" name="Shape 2"/>
          <p:cNvSpPr/>
          <p:nvPr/>
        </p:nvSpPr>
        <p:spPr>
          <a:xfrm>
            <a:off x="365760" y="1143000"/>
            <a:ext cx="4023360" cy="146304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5" name="Shape 3"/>
          <p:cNvSpPr/>
          <p:nvPr/>
        </p:nvSpPr>
        <p:spPr>
          <a:xfrm>
            <a:off x="365760" y="1143000"/>
            <a:ext cx="109728" cy="1463040"/>
          </a:xfrm>
          <a:prstGeom prst="rect">
            <a:avLst/>
          </a:prstGeom>
          <a:solidFill>
            <a:srgbClr val="E8A838"/>
          </a:solidFill>
          <a:ln w="12700">
            <a:solidFill>
              <a:srgbClr val="E8A838"/>
            </a:solidFill>
            <a:prstDash val="solid"/>
          </a:ln>
        </p:spPr>
      </p:sp>
      <p:sp>
        <p:nvSpPr>
          <p:cNvPr id="6" name="Text 4"/>
          <p:cNvSpPr/>
          <p:nvPr/>
        </p:nvSpPr>
        <p:spPr>
          <a:xfrm>
            <a:off x="566928" y="1252728"/>
            <a:ext cx="3657600" cy="347472"/>
          </a:xfrm>
          <a:prstGeom prst="rect">
            <a:avLst/>
          </a:prstGeom>
          <a:noFill/>
          <a:ln/>
        </p:spPr>
        <p:txBody>
          <a:bodyPr wrap="square" lIns="0" tIns="0" rIns="0" bIns="0" rtlCol="0" anchor="ctr"/>
          <a:lstStyle/>
          <a:p>
            <a:pPr marL="0" indent="0">
              <a:buNone/>
            </a:pPr>
            <a:r>
              <a:rPr lang="en-US" sz="1400" b="1" dirty="0" smtClean="0">
                <a:solidFill>
                  <a:srgbClr val="1B3A6B"/>
                </a:solidFill>
                <a:latin typeface="Trebuchet MS" pitchFamily="34" charset="0"/>
                <a:ea typeface="Trebuchet MS" pitchFamily="34" charset="-122"/>
                <a:cs typeface="Trebuchet MS" pitchFamily="34" charset="-120"/>
              </a:rPr>
              <a:t>  </a:t>
            </a:r>
            <a:r>
              <a:rPr lang="en-US" sz="1400" b="1" dirty="0">
                <a:solidFill>
                  <a:srgbClr val="1B3A6B"/>
                </a:solidFill>
                <a:latin typeface="Trebuchet MS" pitchFamily="34" charset="0"/>
                <a:ea typeface="Trebuchet MS" pitchFamily="34" charset="-122"/>
                <a:cs typeface="Trebuchet MS" pitchFamily="34" charset="-120"/>
              </a:rPr>
              <a:t>Affordability Crisis</a:t>
            </a:r>
            <a:endParaRPr lang="en-US" sz="1400" dirty="0"/>
          </a:p>
        </p:txBody>
      </p:sp>
      <p:sp>
        <p:nvSpPr>
          <p:cNvPr id="7" name="Text 5"/>
          <p:cNvSpPr/>
          <p:nvPr/>
        </p:nvSpPr>
        <p:spPr>
          <a:xfrm>
            <a:off x="566928" y="1600200"/>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Housing affordability is a major challenge in Massachusetts, affecting renters and buyers statewide.</a:t>
            </a:r>
            <a:endParaRPr lang="en-US" sz="1200" dirty="0"/>
          </a:p>
        </p:txBody>
      </p:sp>
      <p:sp>
        <p:nvSpPr>
          <p:cNvPr id="8" name="Shape 6"/>
          <p:cNvSpPr/>
          <p:nvPr/>
        </p:nvSpPr>
        <p:spPr>
          <a:xfrm>
            <a:off x="4754880" y="1143000"/>
            <a:ext cx="4023360" cy="146304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9" name="Shape 7"/>
          <p:cNvSpPr/>
          <p:nvPr/>
        </p:nvSpPr>
        <p:spPr>
          <a:xfrm>
            <a:off x="4754880" y="1143000"/>
            <a:ext cx="109728" cy="1463040"/>
          </a:xfrm>
          <a:prstGeom prst="rect">
            <a:avLst/>
          </a:prstGeom>
          <a:solidFill>
            <a:srgbClr val="E8A838"/>
          </a:solidFill>
          <a:ln w="12700">
            <a:solidFill>
              <a:srgbClr val="E8A838"/>
            </a:solidFill>
            <a:prstDash val="solid"/>
          </a:ln>
        </p:spPr>
      </p:sp>
      <p:sp>
        <p:nvSpPr>
          <p:cNvPr id="10" name="Text 8"/>
          <p:cNvSpPr/>
          <p:nvPr/>
        </p:nvSpPr>
        <p:spPr>
          <a:xfrm>
            <a:off x="4956048" y="1252728"/>
            <a:ext cx="3657600" cy="347472"/>
          </a:xfrm>
          <a:prstGeom prst="rect">
            <a:avLst/>
          </a:prstGeom>
          <a:noFill/>
          <a:ln/>
        </p:spPr>
        <p:txBody>
          <a:bodyPr wrap="square" lIns="0" tIns="0" rIns="0" bIns="0" rtlCol="0" anchor="ctr"/>
          <a:lstStyle/>
          <a:p>
            <a:pPr marL="0" indent="0">
              <a:buNone/>
            </a:pPr>
            <a:r>
              <a:rPr lang="en-US" sz="1400" b="1" dirty="0" smtClean="0">
                <a:solidFill>
                  <a:srgbClr val="1B3A6B"/>
                </a:solidFill>
                <a:latin typeface="Trebuchet MS" pitchFamily="34" charset="0"/>
                <a:ea typeface="Trebuchet MS" pitchFamily="34" charset="-122"/>
                <a:cs typeface="Trebuchet MS" pitchFamily="34" charset="-120"/>
              </a:rPr>
              <a:t>  </a:t>
            </a:r>
            <a:r>
              <a:rPr lang="en-US" sz="1400" b="1" dirty="0">
                <a:solidFill>
                  <a:srgbClr val="1B3A6B"/>
                </a:solidFill>
                <a:latin typeface="Trebuchet MS" pitchFamily="34" charset="0"/>
                <a:ea typeface="Trebuchet MS" pitchFamily="34" charset="-122"/>
                <a:cs typeface="Trebuchet MS" pitchFamily="34" charset="-120"/>
              </a:rPr>
              <a:t>Zoning Rules</a:t>
            </a:r>
            <a:endParaRPr lang="en-US" sz="1400" dirty="0"/>
          </a:p>
        </p:txBody>
      </p:sp>
      <p:sp>
        <p:nvSpPr>
          <p:cNvPr id="11" name="Text 9"/>
          <p:cNvSpPr/>
          <p:nvPr/>
        </p:nvSpPr>
        <p:spPr>
          <a:xfrm>
            <a:off x="4956048" y="1600200"/>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Zoning regulations determine where multifamily housing can be built, directly shaping supply.</a:t>
            </a:r>
            <a:endParaRPr lang="en-US" sz="1200" dirty="0"/>
          </a:p>
        </p:txBody>
      </p:sp>
      <p:sp>
        <p:nvSpPr>
          <p:cNvPr id="12" name="Shape 10"/>
          <p:cNvSpPr/>
          <p:nvPr/>
        </p:nvSpPr>
        <p:spPr>
          <a:xfrm>
            <a:off x="365760" y="2834640"/>
            <a:ext cx="4023360" cy="146304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3" name="Shape 11"/>
          <p:cNvSpPr/>
          <p:nvPr/>
        </p:nvSpPr>
        <p:spPr>
          <a:xfrm>
            <a:off x="365760" y="2834640"/>
            <a:ext cx="109728" cy="1463040"/>
          </a:xfrm>
          <a:prstGeom prst="rect">
            <a:avLst/>
          </a:prstGeom>
          <a:solidFill>
            <a:srgbClr val="E8A838"/>
          </a:solidFill>
          <a:ln w="12700">
            <a:solidFill>
              <a:srgbClr val="E8A838"/>
            </a:solidFill>
            <a:prstDash val="solid"/>
          </a:ln>
        </p:spPr>
      </p:sp>
      <p:sp>
        <p:nvSpPr>
          <p:cNvPr id="14" name="Text 12"/>
          <p:cNvSpPr/>
          <p:nvPr/>
        </p:nvSpPr>
        <p:spPr>
          <a:xfrm>
            <a:off x="566928" y="2944368"/>
            <a:ext cx="3657600" cy="347472"/>
          </a:xfrm>
          <a:prstGeom prst="rect">
            <a:avLst/>
          </a:prstGeom>
          <a:noFill/>
          <a:ln/>
        </p:spPr>
        <p:txBody>
          <a:bodyPr wrap="square" lIns="0" tIns="0" rIns="0" bIns="0" rtlCol="0" anchor="ctr"/>
          <a:lstStyle/>
          <a:p>
            <a:pPr marL="0" indent="0">
              <a:buNone/>
            </a:pPr>
            <a:r>
              <a:rPr lang="en-US" sz="1400" b="1" dirty="0" smtClean="0">
                <a:solidFill>
                  <a:srgbClr val="1B3A6B"/>
                </a:solidFill>
                <a:latin typeface="Trebuchet MS" pitchFamily="34" charset="0"/>
                <a:ea typeface="Trebuchet MS" pitchFamily="34" charset="-122"/>
                <a:cs typeface="Trebuchet MS" pitchFamily="34" charset="-120"/>
              </a:rPr>
              <a:t>  </a:t>
            </a:r>
            <a:r>
              <a:rPr lang="en-US" sz="1400" b="1" dirty="0">
                <a:solidFill>
                  <a:srgbClr val="1B3A6B"/>
                </a:solidFill>
                <a:latin typeface="Trebuchet MS" pitchFamily="34" charset="0"/>
                <a:ea typeface="Trebuchet MS" pitchFamily="34" charset="-122"/>
                <a:cs typeface="Trebuchet MS" pitchFamily="34" charset="-120"/>
              </a:rPr>
              <a:t>Policy Insight</a:t>
            </a:r>
            <a:endParaRPr lang="en-US" sz="1400" dirty="0"/>
          </a:p>
        </p:txBody>
      </p:sp>
      <p:sp>
        <p:nvSpPr>
          <p:cNvPr id="15" name="Text 13"/>
          <p:cNvSpPr/>
          <p:nvPr/>
        </p:nvSpPr>
        <p:spPr>
          <a:xfrm>
            <a:off x="566928" y="3291840"/>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Understanding how zoning affects rent, home values, and housing composition helps guide effective reform.</a:t>
            </a:r>
            <a:endParaRPr lang="en-US" sz="1200" dirty="0"/>
          </a:p>
        </p:txBody>
      </p:sp>
      <p:sp>
        <p:nvSpPr>
          <p:cNvPr id="16" name="Shape 14"/>
          <p:cNvSpPr/>
          <p:nvPr/>
        </p:nvSpPr>
        <p:spPr>
          <a:xfrm>
            <a:off x="4754880" y="2834640"/>
            <a:ext cx="4023360" cy="146304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7" name="Shape 15"/>
          <p:cNvSpPr/>
          <p:nvPr/>
        </p:nvSpPr>
        <p:spPr>
          <a:xfrm>
            <a:off x="4754880" y="2834640"/>
            <a:ext cx="109728" cy="1463040"/>
          </a:xfrm>
          <a:prstGeom prst="rect">
            <a:avLst/>
          </a:prstGeom>
          <a:solidFill>
            <a:srgbClr val="E8A838"/>
          </a:solidFill>
          <a:ln w="12700">
            <a:solidFill>
              <a:srgbClr val="E8A838"/>
            </a:solidFill>
            <a:prstDash val="solid"/>
          </a:ln>
        </p:spPr>
      </p:sp>
      <p:sp>
        <p:nvSpPr>
          <p:cNvPr id="18" name="Text 16"/>
          <p:cNvSpPr/>
          <p:nvPr/>
        </p:nvSpPr>
        <p:spPr>
          <a:xfrm>
            <a:off x="4956048" y="2944368"/>
            <a:ext cx="3657600" cy="347472"/>
          </a:xfrm>
          <a:prstGeom prst="rect">
            <a:avLst/>
          </a:prstGeom>
          <a:noFill/>
          <a:ln/>
        </p:spPr>
        <p:txBody>
          <a:bodyPr wrap="square" lIns="0" tIns="0" rIns="0" bIns="0" rtlCol="0" anchor="ctr"/>
          <a:lstStyle/>
          <a:p>
            <a:pPr marL="0" indent="0">
              <a:buNone/>
            </a:pPr>
            <a:r>
              <a:rPr lang="en-US" sz="1400" b="1" dirty="0" smtClean="0">
                <a:solidFill>
                  <a:srgbClr val="1B3A6B"/>
                </a:solidFill>
                <a:latin typeface="Trebuchet MS" pitchFamily="34" charset="0"/>
                <a:ea typeface="Trebuchet MS" pitchFamily="34" charset="-122"/>
                <a:cs typeface="Trebuchet MS" pitchFamily="34" charset="-120"/>
              </a:rPr>
              <a:t>  </a:t>
            </a:r>
            <a:r>
              <a:rPr lang="en-US" sz="1400" b="1" dirty="0">
                <a:solidFill>
                  <a:srgbClr val="1B3A6B"/>
                </a:solidFill>
                <a:latin typeface="Trebuchet MS" pitchFamily="34" charset="0"/>
                <a:ea typeface="Trebuchet MS" pitchFamily="34" charset="-122"/>
                <a:cs typeface="Trebuchet MS" pitchFamily="34" charset="-120"/>
              </a:rPr>
              <a:t>Data Foundation</a:t>
            </a:r>
            <a:endParaRPr lang="en-US" sz="1400" dirty="0"/>
          </a:p>
        </p:txBody>
      </p:sp>
      <p:sp>
        <p:nvSpPr>
          <p:cNvPr id="19" name="Text 17"/>
          <p:cNvSpPr/>
          <p:nvPr/>
        </p:nvSpPr>
        <p:spPr>
          <a:xfrm>
            <a:off x="4956048" y="3291840"/>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ACS 2018 tract-level data provides a detailed, statewide view of housing patterns across 1,439 tracts.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a:effectLst/>
      </p:bgPr>
    </p:bg>
    <p:spTree>
      <p:nvGrpSpPr>
        <p:cNvPr id="1" name=""/>
        <p:cNvGrpSpPr/>
        <p:nvPr/>
      </p:nvGrpSpPr>
      <p:grpSpPr>
        <a:xfrm>
          <a:off x="0" y="0"/>
          <a:ext cx="0" cy="0"/>
          <a:chOff x="0" y="0"/>
          <a:chExt cx="0" cy="0"/>
        </a:xfrm>
      </p:grpSpPr>
      <p:sp>
        <p:nvSpPr>
          <p:cNvPr id="4" name="Shape 2"/>
          <p:cNvSpPr/>
          <p:nvPr/>
        </p:nvSpPr>
        <p:spPr>
          <a:xfrm>
            <a:off x="457200" y="2330958"/>
            <a:ext cx="457200" cy="457200"/>
          </a:xfrm>
          <a:prstGeom prst="ellipse">
            <a:avLst/>
          </a:prstGeom>
          <a:solidFill>
            <a:srgbClr val="EBF3FB"/>
          </a:solidFill>
          <a:ln w="12700">
            <a:solidFill>
              <a:srgbClr val="EBF3FB"/>
            </a:solidFill>
            <a:prstDash val="solid"/>
          </a:ln>
        </p:spPr>
      </p:sp>
      <p:sp>
        <p:nvSpPr>
          <p:cNvPr id="5" name="Text 3"/>
          <p:cNvSpPr/>
          <p:nvPr/>
        </p:nvSpPr>
        <p:spPr>
          <a:xfrm>
            <a:off x="457200" y="2378964"/>
            <a:ext cx="457200" cy="365760"/>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097280" y="2331720"/>
            <a:ext cx="7589520" cy="38404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Does permissive zoning lower rent?</a:t>
            </a:r>
            <a:endParaRPr lang="en-US" sz="1500" dirty="0"/>
          </a:p>
        </p:txBody>
      </p:sp>
      <p:sp>
        <p:nvSpPr>
          <p:cNvPr id="7" name="Shape 5"/>
          <p:cNvSpPr/>
          <p:nvPr/>
        </p:nvSpPr>
        <p:spPr>
          <a:xfrm>
            <a:off x="457200" y="3037332"/>
            <a:ext cx="457200" cy="457200"/>
          </a:xfrm>
          <a:prstGeom prst="ellipse">
            <a:avLst/>
          </a:prstGeom>
          <a:solidFill>
            <a:srgbClr val="EBF3FB"/>
          </a:solidFill>
          <a:ln w="12700">
            <a:solidFill>
              <a:srgbClr val="EBF3FB"/>
            </a:solidFill>
            <a:prstDash val="solid"/>
          </a:ln>
        </p:spPr>
      </p:sp>
      <p:sp>
        <p:nvSpPr>
          <p:cNvPr id="8" name="Text 6"/>
          <p:cNvSpPr/>
          <p:nvPr/>
        </p:nvSpPr>
        <p:spPr>
          <a:xfrm>
            <a:off x="457200" y="3061716"/>
            <a:ext cx="457200" cy="365760"/>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2</a:t>
            </a:r>
            <a:endParaRPr lang="en-US" sz="1600" dirty="0"/>
          </a:p>
        </p:txBody>
      </p:sp>
      <p:sp>
        <p:nvSpPr>
          <p:cNvPr id="9" name="Text 7"/>
          <p:cNvSpPr/>
          <p:nvPr/>
        </p:nvSpPr>
        <p:spPr>
          <a:xfrm>
            <a:off x="1097280" y="3052572"/>
            <a:ext cx="7589520" cy="38404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Does permissive zoning lower home values?</a:t>
            </a:r>
            <a:endParaRPr lang="en-US" sz="1500" dirty="0"/>
          </a:p>
        </p:txBody>
      </p:sp>
      <p:sp>
        <p:nvSpPr>
          <p:cNvPr id="10" name="Shape 8"/>
          <p:cNvSpPr/>
          <p:nvPr/>
        </p:nvSpPr>
        <p:spPr>
          <a:xfrm>
            <a:off x="457200" y="3745992"/>
            <a:ext cx="457200" cy="457200"/>
          </a:xfrm>
          <a:prstGeom prst="ellipse">
            <a:avLst/>
          </a:prstGeom>
          <a:solidFill>
            <a:srgbClr val="EBF3FB"/>
          </a:solidFill>
          <a:ln w="12700">
            <a:solidFill>
              <a:srgbClr val="EBF3FB"/>
            </a:solidFill>
            <a:prstDash val="solid"/>
          </a:ln>
        </p:spPr>
      </p:sp>
      <p:sp>
        <p:nvSpPr>
          <p:cNvPr id="11" name="Text 9"/>
          <p:cNvSpPr/>
          <p:nvPr/>
        </p:nvSpPr>
        <p:spPr>
          <a:xfrm>
            <a:off x="457200" y="3791712"/>
            <a:ext cx="457200" cy="365760"/>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3</a:t>
            </a:r>
            <a:endParaRPr lang="en-US" sz="1600" dirty="0"/>
          </a:p>
        </p:txBody>
      </p:sp>
      <p:sp>
        <p:nvSpPr>
          <p:cNvPr id="12" name="Text 10"/>
          <p:cNvSpPr/>
          <p:nvPr/>
        </p:nvSpPr>
        <p:spPr>
          <a:xfrm>
            <a:off x="1097280" y="3791712"/>
            <a:ext cx="7589520" cy="38404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Does permissive zoning increase multifamily housing share?</a:t>
            </a:r>
            <a:endParaRPr lang="en-US" sz="1500" dirty="0"/>
          </a:p>
        </p:txBody>
      </p:sp>
      <p:sp>
        <p:nvSpPr>
          <p:cNvPr id="14" name="Text 12"/>
          <p:cNvSpPr/>
          <p:nvPr/>
        </p:nvSpPr>
        <p:spPr>
          <a:xfrm>
            <a:off x="457200" y="4480560"/>
            <a:ext cx="457200" cy="365760"/>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4</a:t>
            </a:r>
            <a:endParaRPr lang="en-US" sz="1600" dirty="0"/>
          </a:p>
        </p:txBody>
      </p:sp>
      <p:sp>
        <p:nvSpPr>
          <p:cNvPr id="16" name="Shape 2"/>
          <p:cNvSpPr/>
          <p:nvPr/>
        </p:nvSpPr>
        <p:spPr>
          <a:xfrm>
            <a:off x="457200" y="794766"/>
            <a:ext cx="8412480" cy="1371600"/>
          </a:xfrm>
          <a:prstGeom prst="rect">
            <a:avLst/>
          </a:prstGeom>
          <a:solidFill>
            <a:srgbClr val="EBF3FB"/>
          </a:solidFill>
          <a:ln w="25400">
            <a:solidFill>
              <a:srgbClr val="2E6DA4"/>
            </a:solidFill>
            <a:prstDash val="solid"/>
          </a:ln>
        </p:spPr>
      </p:sp>
      <p:sp>
        <p:nvSpPr>
          <p:cNvPr id="17" name="Shape 0"/>
          <p:cNvSpPr/>
          <p:nvPr/>
        </p:nvSpPr>
        <p:spPr>
          <a:xfrm>
            <a:off x="0" y="0"/>
            <a:ext cx="9144000" cy="782574"/>
          </a:xfrm>
          <a:prstGeom prst="rect">
            <a:avLst/>
          </a:prstGeom>
          <a:solidFill>
            <a:srgbClr val="1E3A5F"/>
          </a:solidFill>
          <a:ln/>
        </p:spPr>
        <p:txBody>
          <a:bodyPr/>
          <a:lstStyle/>
          <a:p>
            <a:r>
              <a:rPr lang="sr-Latn-RS" sz="3000" b="1" dirty="0" smtClean="0">
                <a:solidFill>
                  <a:srgbClr val="FFFFFF"/>
                </a:solidFill>
                <a:latin typeface="Calibri" pitchFamily="34" charset="0"/>
                <a:ea typeface="Calibri" pitchFamily="34" charset="-122"/>
                <a:cs typeface="Calibri" pitchFamily="34" charset="-120"/>
              </a:rPr>
              <a:t>Research </a:t>
            </a:r>
            <a:r>
              <a:rPr lang="sr-Latn-RS" sz="3000" b="1" dirty="0">
                <a:solidFill>
                  <a:srgbClr val="FFFFFF"/>
                </a:solidFill>
                <a:latin typeface="Calibri" pitchFamily="34" charset="0"/>
                <a:ea typeface="Calibri" pitchFamily="34" charset="-122"/>
                <a:cs typeface="Calibri" pitchFamily="34" charset="-120"/>
              </a:rPr>
              <a:t>Question</a:t>
            </a:r>
            <a:endParaRPr lang="en-US" sz="3000" b="1" dirty="0">
              <a:solidFill>
                <a:srgbClr val="FFFFFF"/>
              </a:solidFill>
              <a:latin typeface="Calibri" pitchFamily="34" charset="0"/>
              <a:ea typeface="Calibri" pitchFamily="34" charset="-122"/>
              <a:cs typeface="Calibri" pitchFamily="34" charset="-120"/>
            </a:endParaRPr>
          </a:p>
        </p:txBody>
      </p:sp>
      <p:sp>
        <p:nvSpPr>
          <p:cNvPr id="18" name="Rectangle 17"/>
          <p:cNvSpPr/>
          <p:nvPr/>
        </p:nvSpPr>
        <p:spPr>
          <a:xfrm>
            <a:off x="571500" y="891326"/>
            <a:ext cx="8001000" cy="923330"/>
          </a:xfrm>
          <a:prstGeom prst="rect">
            <a:avLst/>
          </a:prstGeom>
        </p:spPr>
        <p:txBody>
          <a:bodyPr wrap="square">
            <a:spAutoFit/>
          </a:bodyPr>
          <a:lstStyle/>
          <a:p>
            <a:r>
              <a:rPr lang="en-US" i="1" dirty="0">
                <a:solidFill>
                  <a:srgbClr val="1A252F"/>
                </a:solidFill>
                <a:latin typeface="Calibri" pitchFamily="34" charset="0"/>
                <a:ea typeface="Calibri" pitchFamily="34" charset="-122"/>
                <a:cs typeface="Calibri" pitchFamily="34" charset="-120"/>
              </a:rPr>
              <a:t>Do census tracts that allow more multifamily housing — duplexes and small apartments — have lower rents and home values than tracts dominated by single-family zoning?</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w="12700">
            <a:solidFill>
              <a:srgbClr val="1B3A6B"/>
            </a:solidFill>
            <a:prstDash val="solid"/>
          </a:ln>
        </p:spPr>
      </p:sp>
      <p:sp>
        <p:nvSpPr>
          <p:cNvPr id="3" name="Text 1"/>
          <p:cNvSpPr/>
          <p:nvPr/>
        </p:nvSpPr>
        <p:spPr>
          <a:xfrm>
            <a:off x="457200" y="164592"/>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Key Variables</a:t>
            </a:r>
            <a:endParaRPr lang="en-US" sz="3400" dirty="0"/>
          </a:p>
        </p:txBody>
      </p:sp>
      <p:sp>
        <p:nvSpPr>
          <p:cNvPr id="4" name="Shape 2"/>
          <p:cNvSpPr/>
          <p:nvPr/>
        </p:nvSpPr>
        <p:spPr>
          <a:xfrm>
            <a:off x="365760" y="10972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5" name="Shape 3"/>
          <p:cNvSpPr/>
          <p:nvPr/>
        </p:nvSpPr>
        <p:spPr>
          <a:xfrm>
            <a:off x="365760" y="1097280"/>
            <a:ext cx="109728" cy="749808"/>
          </a:xfrm>
          <a:prstGeom prst="rect">
            <a:avLst/>
          </a:prstGeom>
          <a:solidFill>
            <a:srgbClr val="4A7BA7"/>
          </a:solidFill>
          <a:ln w="12700">
            <a:solidFill>
              <a:srgbClr val="4A7BA7"/>
            </a:solidFill>
            <a:prstDash val="solid"/>
          </a:ln>
        </p:spPr>
      </p:sp>
      <p:sp>
        <p:nvSpPr>
          <p:cNvPr id="6" name="Text 4"/>
          <p:cNvSpPr/>
          <p:nvPr/>
        </p:nvSpPr>
        <p:spPr>
          <a:xfrm>
            <a:off x="566928" y="11430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Median </a:t>
            </a:r>
            <a:r>
              <a:rPr lang="sr-Latn-RS" sz="1300" b="1" dirty="0" smtClean="0">
                <a:solidFill>
                  <a:srgbClr val="1B3A6B"/>
                </a:solidFill>
                <a:latin typeface="Trebuchet MS" pitchFamily="34" charset="0"/>
                <a:ea typeface="Trebuchet MS" pitchFamily="34" charset="-122"/>
                <a:cs typeface="Trebuchet MS" pitchFamily="34" charset="-120"/>
              </a:rPr>
              <a:t>Gross </a:t>
            </a:r>
            <a:r>
              <a:rPr lang="en-US" sz="1300" b="1" dirty="0" smtClean="0">
                <a:solidFill>
                  <a:srgbClr val="1B3A6B"/>
                </a:solidFill>
                <a:latin typeface="Trebuchet MS" pitchFamily="34" charset="0"/>
                <a:ea typeface="Trebuchet MS" pitchFamily="34" charset="-122"/>
                <a:cs typeface="Trebuchet MS" pitchFamily="34" charset="-120"/>
              </a:rPr>
              <a:t>Rent</a:t>
            </a:r>
            <a:endParaRPr lang="en-US" sz="1300" dirty="0"/>
          </a:p>
        </p:txBody>
      </p:sp>
      <p:sp>
        <p:nvSpPr>
          <p:cNvPr id="7" name="Text 5"/>
          <p:cNvSpPr/>
          <p:nvPr/>
        </p:nvSpPr>
        <p:spPr>
          <a:xfrm>
            <a:off x="566928" y="14173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Monthly rent by census tract (ACS B25064)</a:t>
            </a:r>
            <a:endParaRPr lang="en-US" sz="1100" dirty="0"/>
          </a:p>
        </p:txBody>
      </p:sp>
      <p:sp>
        <p:nvSpPr>
          <p:cNvPr id="8" name="Shape 6"/>
          <p:cNvSpPr/>
          <p:nvPr/>
        </p:nvSpPr>
        <p:spPr>
          <a:xfrm>
            <a:off x="365760" y="20116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9" name="Shape 7"/>
          <p:cNvSpPr/>
          <p:nvPr/>
        </p:nvSpPr>
        <p:spPr>
          <a:xfrm>
            <a:off x="365760" y="2011680"/>
            <a:ext cx="109728" cy="749808"/>
          </a:xfrm>
          <a:prstGeom prst="rect">
            <a:avLst/>
          </a:prstGeom>
          <a:solidFill>
            <a:srgbClr val="4A7BA7"/>
          </a:solidFill>
          <a:ln w="12700">
            <a:solidFill>
              <a:srgbClr val="4A7BA7"/>
            </a:solidFill>
            <a:prstDash val="solid"/>
          </a:ln>
        </p:spPr>
      </p:sp>
      <p:sp>
        <p:nvSpPr>
          <p:cNvPr id="10" name="Text 8"/>
          <p:cNvSpPr/>
          <p:nvPr/>
        </p:nvSpPr>
        <p:spPr>
          <a:xfrm>
            <a:off x="566928" y="20574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Median Home Value</a:t>
            </a:r>
            <a:endParaRPr lang="en-US" sz="1300" dirty="0"/>
          </a:p>
        </p:txBody>
      </p:sp>
      <p:sp>
        <p:nvSpPr>
          <p:cNvPr id="11" name="Text 9"/>
          <p:cNvSpPr/>
          <p:nvPr/>
        </p:nvSpPr>
        <p:spPr>
          <a:xfrm>
            <a:off x="566928" y="23317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Owner-occupied home value (ACS B25077)</a:t>
            </a:r>
            <a:endParaRPr lang="en-US" sz="1100" dirty="0"/>
          </a:p>
        </p:txBody>
      </p:sp>
      <p:sp>
        <p:nvSpPr>
          <p:cNvPr id="12" name="Shape 10"/>
          <p:cNvSpPr/>
          <p:nvPr/>
        </p:nvSpPr>
        <p:spPr>
          <a:xfrm>
            <a:off x="365760" y="29260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3" name="Shape 11"/>
          <p:cNvSpPr/>
          <p:nvPr/>
        </p:nvSpPr>
        <p:spPr>
          <a:xfrm>
            <a:off x="365760" y="2926080"/>
            <a:ext cx="109728" cy="749808"/>
          </a:xfrm>
          <a:prstGeom prst="rect">
            <a:avLst/>
          </a:prstGeom>
          <a:solidFill>
            <a:srgbClr val="4A7BA7"/>
          </a:solidFill>
          <a:ln w="12700">
            <a:solidFill>
              <a:srgbClr val="4A7BA7"/>
            </a:solidFill>
            <a:prstDash val="solid"/>
          </a:ln>
        </p:spPr>
      </p:sp>
      <p:sp>
        <p:nvSpPr>
          <p:cNvPr id="14" name="Text 12"/>
          <p:cNvSpPr/>
          <p:nvPr/>
        </p:nvSpPr>
        <p:spPr>
          <a:xfrm>
            <a:off x="566928" y="29718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Median Income</a:t>
            </a:r>
            <a:endParaRPr lang="en-US" sz="1300" dirty="0"/>
          </a:p>
        </p:txBody>
      </p:sp>
      <p:sp>
        <p:nvSpPr>
          <p:cNvPr id="15" name="Text 13"/>
          <p:cNvSpPr/>
          <p:nvPr/>
        </p:nvSpPr>
        <p:spPr>
          <a:xfrm>
            <a:off x="566928" y="32461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Household median income, log-transformed</a:t>
            </a:r>
            <a:endParaRPr lang="en-US" sz="1100" dirty="0"/>
          </a:p>
        </p:txBody>
      </p:sp>
      <p:sp>
        <p:nvSpPr>
          <p:cNvPr id="16" name="Shape 14"/>
          <p:cNvSpPr/>
          <p:nvPr/>
        </p:nvSpPr>
        <p:spPr>
          <a:xfrm>
            <a:off x="365760" y="38404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7" name="Shape 15"/>
          <p:cNvSpPr/>
          <p:nvPr/>
        </p:nvSpPr>
        <p:spPr>
          <a:xfrm>
            <a:off x="365760" y="3840480"/>
            <a:ext cx="109728" cy="749808"/>
          </a:xfrm>
          <a:prstGeom prst="rect">
            <a:avLst/>
          </a:prstGeom>
          <a:solidFill>
            <a:srgbClr val="4A7BA7"/>
          </a:solidFill>
          <a:ln w="12700">
            <a:solidFill>
              <a:srgbClr val="4A7BA7"/>
            </a:solidFill>
            <a:prstDash val="solid"/>
          </a:ln>
        </p:spPr>
      </p:sp>
      <p:sp>
        <p:nvSpPr>
          <p:cNvPr id="18" name="Text 16"/>
          <p:cNvSpPr/>
          <p:nvPr/>
        </p:nvSpPr>
        <p:spPr>
          <a:xfrm>
            <a:off x="566928" y="38862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Renter Share</a:t>
            </a:r>
            <a:endParaRPr lang="en-US" sz="1300" dirty="0"/>
          </a:p>
        </p:txBody>
      </p:sp>
      <p:sp>
        <p:nvSpPr>
          <p:cNvPr id="19" name="Text 17"/>
          <p:cNvSpPr/>
          <p:nvPr/>
        </p:nvSpPr>
        <p:spPr>
          <a:xfrm>
            <a:off x="566928" y="41605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Fraction of occupied units that are renter-occupied</a:t>
            </a:r>
            <a:endParaRPr lang="en-US" sz="1100" dirty="0"/>
          </a:p>
        </p:txBody>
      </p:sp>
      <p:sp>
        <p:nvSpPr>
          <p:cNvPr id="20" name="Shape 18"/>
          <p:cNvSpPr/>
          <p:nvPr/>
        </p:nvSpPr>
        <p:spPr>
          <a:xfrm>
            <a:off x="4846320" y="10972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21" name="Shape 19"/>
          <p:cNvSpPr/>
          <p:nvPr/>
        </p:nvSpPr>
        <p:spPr>
          <a:xfrm>
            <a:off x="4846320" y="1097280"/>
            <a:ext cx="109728" cy="749808"/>
          </a:xfrm>
          <a:prstGeom prst="rect">
            <a:avLst/>
          </a:prstGeom>
          <a:solidFill>
            <a:srgbClr val="4A7BA7"/>
          </a:solidFill>
          <a:ln w="12700">
            <a:solidFill>
              <a:srgbClr val="4A7BA7"/>
            </a:solidFill>
            <a:prstDash val="solid"/>
          </a:ln>
        </p:spPr>
      </p:sp>
      <p:sp>
        <p:nvSpPr>
          <p:cNvPr id="22" name="Text 20"/>
          <p:cNvSpPr/>
          <p:nvPr/>
        </p:nvSpPr>
        <p:spPr>
          <a:xfrm>
            <a:off x="5047488" y="11430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Multifamily Share</a:t>
            </a:r>
            <a:endParaRPr lang="en-US" sz="1300" dirty="0"/>
          </a:p>
        </p:txBody>
      </p:sp>
      <p:sp>
        <p:nvSpPr>
          <p:cNvPr id="23" name="Text 21"/>
          <p:cNvSpPr/>
          <p:nvPr/>
        </p:nvSpPr>
        <p:spPr>
          <a:xfrm>
            <a:off x="5047488" y="14173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Share of units in multifamily structures</a:t>
            </a:r>
            <a:endParaRPr lang="en-US" sz="1100" dirty="0"/>
          </a:p>
        </p:txBody>
      </p:sp>
      <p:sp>
        <p:nvSpPr>
          <p:cNvPr id="24" name="Shape 22"/>
          <p:cNvSpPr/>
          <p:nvPr/>
        </p:nvSpPr>
        <p:spPr>
          <a:xfrm>
            <a:off x="4846320" y="20116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25" name="Shape 23"/>
          <p:cNvSpPr/>
          <p:nvPr/>
        </p:nvSpPr>
        <p:spPr>
          <a:xfrm>
            <a:off x="4846320" y="2011680"/>
            <a:ext cx="109728" cy="749808"/>
          </a:xfrm>
          <a:prstGeom prst="rect">
            <a:avLst/>
          </a:prstGeom>
          <a:solidFill>
            <a:srgbClr val="4A7BA7"/>
          </a:solidFill>
          <a:ln w="12700">
            <a:solidFill>
              <a:srgbClr val="4A7BA7"/>
            </a:solidFill>
            <a:prstDash val="solid"/>
          </a:ln>
        </p:spPr>
      </p:sp>
      <p:sp>
        <p:nvSpPr>
          <p:cNvPr id="26" name="Text 24"/>
          <p:cNvSpPr/>
          <p:nvPr/>
        </p:nvSpPr>
        <p:spPr>
          <a:xfrm>
            <a:off x="5047488" y="20574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Poverty Rate</a:t>
            </a:r>
            <a:endParaRPr lang="en-US" sz="1300" dirty="0"/>
          </a:p>
        </p:txBody>
      </p:sp>
      <p:sp>
        <p:nvSpPr>
          <p:cNvPr id="27" name="Text 25"/>
          <p:cNvSpPr/>
          <p:nvPr/>
        </p:nvSpPr>
        <p:spPr>
          <a:xfrm>
            <a:off x="5047488" y="23317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Fraction of persons below poverty line</a:t>
            </a:r>
            <a:endParaRPr lang="en-US" sz="1100" dirty="0"/>
          </a:p>
        </p:txBody>
      </p:sp>
      <p:sp>
        <p:nvSpPr>
          <p:cNvPr id="28" name="Shape 26"/>
          <p:cNvSpPr/>
          <p:nvPr/>
        </p:nvSpPr>
        <p:spPr>
          <a:xfrm>
            <a:off x="4846320" y="2926080"/>
            <a:ext cx="4114800" cy="749808"/>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29" name="Shape 27"/>
          <p:cNvSpPr/>
          <p:nvPr/>
        </p:nvSpPr>
        <p:spPr>
          <a:xfrm>
            <a:off x="4846320" y="2926080"/>
            <a:ext cx="109728" cy="749808"/>
          </a:xfrm>
          <a:prstGeom prst="rect">
            <a:avLst/>
          </a:prstGeom>
          <a:solidFill>
            <a:srgbClr val="4A7BA7"/>
          </a:solidFill>
          <a:ln w="12700">
            <a:solidFill>
              <a:srgbClr val="4A7BA7"/>
            </a:solidFill>
            <a:prstDash val="solid"/>
          </a:ln>
        </p:spPr>
      </p:sp>
      <p:sp>
        <p:nvSpPr>
          <p:cNvPr id="30" name="Text 28"/>
          <p:cNvSpPr/>
          <p:nvPr/>
        </p:nvSpPr>
        <p:spPr>
          <a:xfrm>
            <a:off x="5047488" y="2971800"/>
            <a:ext cx="374904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treated_dupac</a:t>
            </a:r>
            <a:endParaRPr lang="en-US" sz="1300" dirty="0"/>
          </a:p>
        </p:txBody>
      </p:sp>
      <p:sp>
        <p:nvSpPr>
          <p:cNvPr id="31" name="Text 29"/>
          <p:cNvSpPr/>
          <p:nvPr/>
        </p:nvSpPr>
        <p:spPr>
          <a:xfrm>
            <a:off x="5047488" y="3246120"/>
            <a:ext cx="37490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Binary: tract above-median gentle density share (zoning proxy)</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w="12700">
            <a:solidFill>
              <a:srgbClr val="1B3A6B"/>
            </a:solidFill>
            <a:prstDash val="solid"/>
          </a:ln>
        </p:spPr>
      </p:sp>
      <p:sp>
        <p:nvSpPr>
          <p:cNvPr id="3" name="Text 1"/>
          <p:cNvSpPr/>
          <p:nvPr/>
        </p:nvSpPr>
        <p:spPr>
          <a:xfrm>
            <a:off x="457200" y="164592"/>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Data Source &amp; Challenges</a:t>
            </a:r>
            <a:endParaRPr lang="en-US" sz="3400" dirty="0"/>
          </a:p>
        </p:txBody>
      </p:sp>
      <p:sp>
        <p:nvSpPr>
          <p:cNvPr id="4" name="Shape 2"/>
          <p:cNvSpPr/>
          <p:nvPr/>
        </p:nvSpPr>
        <p:spPr>
          <a:xfrm>
            <a:off x="365760" y="1097280"/>
            <a:ext cx="3931920" cy="3749040"/>
          </a:xfrm>
          <a:prstGeom prst="rect">
            <a:avLst/>
          </a:prstGeom>
          <a:solidFill>
            <a:srgbClr val="D6E4F0"/>
          </a:solidFill>
          <a:ln w="12700">
            <a:solidFill>
              <a:srgbClr val="D6E4F0"/>
            </a:solidFill>
            <a:prstDash val="solid"/>
          </a:ln>
        </p:spPr>
      </p:sp>
      <p:sp>
        <p:nvSpPr>
          <p:cNvPr id="5" name="Text 3"/>
          <p:cNvSpPr/>
          <p:nvPr/>
        </p:nvSpPr>
        <p:spPr>
          <a:xfrm>
            <a:off x="457200" y="1188720"/>
            <a:ext cx="3749040" cy="411480"/>
          </a:xfrm>
          <a:prstGeom prst="rect">
            <a:avLst/>
          </a:prstGeom>
          <a:noFill/>
          <a:ln/>
        </p:spPr>
        <p:txBody>
          <a:bodyPr wrap="square" lIns="0" tIns="0" rIns="0" bIns="0" rtlCol="0" anchor="ctr"/>
          <a:lstStyle/>
          <a:p>
            <a:pPr marL="0" indent="0">
              <a:buNone/>
            </a:pPr>
            <a:r>
              <a:rPr lang="en-US" sz="1500" b="1" dirty="0">
                <a:solidFill>
                  <a:srgbClr val="1B3A6B"/>
                </a:solidFill>
                <a:latin typeface="Trebuchet MS" pitchFamily="34" charset="0"/>
                <a:ea typeface="Trebuchet MS" pitchFamily="34" charset="-122"/>
                <a:cs typeface="Trebuchet MS" pitchFamily="34" charset="-120"/>
              </a:rPr>
              <a:t>ACS 2018 5-Year Estimates</a:t>
            </a:r>
            <a:endParaRPr lang="en-US" sz="1500" dirty="0"/>
          </a:p>
        </p:txBody>
      </p:sp>
      <p:sp>
        <p:nvSpPr>
          <p:cNvPr id="6" name="Text 4"/>
          <p:cNvSpPr/>
          <p:nvPr/>
        </p:nvSpPr>
        <p:spPr>
          <a:xfrm>
            <a:off x="457200" y="1600200"/>
            <a:ext cx="3749040" cy="256032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1,439 Massachusetts census tracts</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Housing structure composition variables</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Income, poverty &amp; demographic data</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GEOID creation &amp; numeric conversion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Only complete, free statewide dataset</a:t>
            </a:r>
            <a:endParaRPr lang="en-US" sz="1400" dirty="0"/>
          </a:p>
        </p:txBody>
      </p:sp>
      <p:sp>
        <p:nvSpPr>
          <p:cNvPr id="7" name="Shape 5"/>
          <p:cNvSpPr/>
          <p:nvPr/>
        </p:nvSpPr>
        <p:spPr>
          <a:xfrm>
            <a:off x="4846320" y="1097280"/>
            <a:ext cx="3931920" cy="3749040"/>
          </a:xfrm>
          <a:prstGeom prst="rect">
            <a:avLst/>
          </a:prstGeom>
          <a:solidFill>
            <a:srgbClr val="FFF3E0"/>
          </a:solidFill>
          <a:ln w="12700">
            <a:solidFill>
              <a:srgbClr val="FFDDB0"/>
            </a:solidFill>
            <a:prstDash val="solid"/>
          </a:ln>
        </p:spPr>
      </p:sp>
      <p:sp>
        <p:nvSpPr>
          <p:cNvPr id="8" name="Text 6"/>
          <p:cNvSpPr/>
          <p:nvPr/>
        </p:nvSpPr>
        <p:spPr>
          <a:xfrm>
            <a:off x="4937760" y="1188720"/>
            <a:ext cx="3749040" cy="411480"/>
          </a:xfrm>
          <a:prstGeom prst="rect">
            <a:avLst/>
          </a:prstGeom>
          <a:noFill/>
          <a:ln/>
        </p:spPr>
        <p:txBody>
          <a:bodyPr wrap="square" lIns="0" tIns="0" rIns="0" bIns="0" rtlCol="0" anchor="ctr"/>
          <a:lstStyle/>
          <a:p>
            <a:pPr marL="0" indent="0">
              <a:buNone/>
            </a:pPr>
            <a:r>
              <a:rPr lang="en-US" sz="1500" b="1" dirty="0">
                <a:solidFill>
                  <a:srgbClr val="B45309"/>
                </a:solidFill>
                <a:latin typeface="Trebuchet MS" pitchFamily="34" charset="0"/>
                <a:ea typeface="Trebuchet MS" pitchFamily="34" charset="-122"/>
                <a:cs typeface="Trebuchet MS" pitchFamily="34" charset="-120"/>
              </a:rPr>
              <a:t>⚠  Data Challenges</a:t>
            </a:r>
            <a:endParaRPr lang="en-US" sz="1500" dirty="0"/>
          </a:p>
        </p:txBody>
      </p:sp>
      <p:sp>
        <p:nvSpPr>
          <p:cNvPr id="9" name="Text 7"/>
          <p:cNvSpPr/>
          <p:nvPr/>
        </p:nvSpPr>
        <p:spPr>
          <a:xfrm>
            <a:off x="4937760" y="1600200"/>
            <a:ext cx="3749040" cy="256032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CoStar data unavailable (private/expensive)</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Warren Group requires paid subscription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Assessor data fragmented across municipalities</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Zoning not directly observable — inferred from built form (gentle density share)</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ACS measurement error &amp; suppression codes</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B"/>
        </a:solidFill>
        <a:effectLst/>
      </p:bgPr>
    </p:bg>
    <p:spTree>
      <p:nvGrpSpPr>
        <p:cNvPr id="1" name=""/>
        <p:cNvGrpSpPr/>
        <p:nvPr/>
      </p:nvGrpSpPr>
      <p:grpSpPr>
        <a:xfrm>
          <a:off x="0" y="0"/>
          <a:ext cx="0" cy="0"/>
          <a:chOff x="0" y="0"/>
          <a:chExt cx="0" cy="0"/>
        </a:xfrm>
      </p:grpSpPr>
      <p:sp>
        <p:nvSpPr>
          <p:cNvPr id="30" name="Rectangle 29"/>
          <p:cNvSpPr/>
          <p:nvPr/>
        </p:nvSpPr>
        <p:spPr>
          <a:xfrm>
            <a:off x="5795586" y="689359"/>
            <a:ext cx="3208206" cy="43137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3"/>
          <p:cNvSpPr/>
          <p:nvPr/>
        </p:nvSpPr>
        <p:spPr>
          <a:xfrm>
            <a:off x="457200" y="1197864"/>
            <a:ext cx="502920" cy="384048"/>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pic>
        <p:nvPicPr>
          <p:cNvPr id="25" name="Picture 24"/>
          <p:cNvPicPr>
            <a:picLocks noChangeAspect="1"/>
          </p:cNvPicPr>
          <p:nvPr/>
        </p:nvPicPr>
        <p:blipFill rotWithShape="1">
          <a:blip r:embed="rId3">
            <a:extLst>
              <a:ext uri="{28A0092B-C50C-407E-A947-70E740481C1C}">
                <a14:useLocalDpi xmlns:a14="http://schemas.microsoft.com/office/drawing/2010/main" val="0"/>
              </a:ext>
            </a:extLst>
          </a:blip>
          <a:srcRect r="47867"/>
          <a:stretch/>
        </p:blipFill>
        <p:spPr>
          <a:xfrm>
            <a:off x="128016" y="689359"/>
            <a:ext cx="6382512" cy="4313797"/>
          </a:xfrm>
          <a:prstGeom prst="rect">
            <a:avLst/>
          </a:prstGeom>
        </p:spPr>
      </p:pic>
      <p:sp>
        <p:nvSpPr>
          <p:cNvPr id="26" name="Rectangle 25"/>
          <p:cNvSpPr/>
          <p:nvPr/>
        </p:nvSpPr>
        <p:spPr>
          <a:xfrm>
            <a:off x="239268" y="102314"/>
            <a:ext cx="4862228" cy="615553"/>
          </a:xfrm>
          <a:prstGeom prst="rect">
            <a:avLst/>
          </a:prstGeom>
        </p:spPr>
        <p:txBody>
          <a:bodyPr wrap="none">
            <a:spAutoFit/>
          </a:bodyPr>
          <a:lstStyle/>
          <a:p>
            <a:r>
              <a:rPr lang="en-US" sz="3400" b="1" dirty="0">
                <a:solidFill>
                  <a:srgbClr val="FFFFFF"/>
                </a:solidFill>
                <a:latin typeface="Trebuchet MS" pitchFamily="34" charset="0"/>
                <a:ea typeface="Trebuchet MS" pitchFamily="34" charset="-122"/>
                <a:cs typeface="Trebuchet MS" pitchFamily="34" charset="-120"/>
              </a:rPr>
              <a:t>Step </a:t>
            </a:r>
            <a:r>
              <a:rPr lang="sr-Latn-RS" sz="3400" b="1" dirty="0">
                <a:solidFill>
                  <a:srgbClr val="FFFFFF"/>
                </a:solidFill>
                <a:latin typeface="Trebuchet MS" pitchFamily="34" charset="0"/>
                <a:ea typeface="Trebuchet MS" pitchFamily="34" charset="-122"/>
                <a:cs typeface="Trebuchet MS" pitchFamily="34" charset="-120"/>
              </a:rPr>
              <a:t>1</a:t>
            </a:r>
            <a:r>
              <a:rPr lang="en-US" sz="3400" b="1" dirty="0">
                <a:solidFill>
                  <a:srgbClr val="FFFFFF"/>
                </a:solidFill>
                <a:latin typeface="Trebuchet MS" pitchFamily="34" charset="0"/>
                <a:ea typeface="Trebuchet MS" pitchFamily="34" charset="-122"/>
                <a:cs typeface="Trebuchet MS" pitchFamily="34" charset="-120"/>
              </a:rPr>
              <a:t>: Data</a:t>
            </a:r>
            <a:r>
              <a:rPr lang="sr-Latn-RS" sz="3400" b="1" dirty="0">
                <a:solidFill>
                  <a:srgbClr val="FFFFFF"/>
                </a:solidFill>
                <a:latin typeface="Trebuchet MS" pitchFamily="34" charset="0"/>
                <a:ea typeface="Trebuchet MS" pitchFamily="34" charset="-122"/>
                <a:cs typeface="Trebuchet MS" pitchFamily="34" charset="-120"/>
              </a:rPr>
              <a:t> Collection</a:t>
            </a:r>
            <a:endParaRPr lang="en-US" sz="3400" b="1" dirty="0">
              <a:solidFill>
                <a:srgbClr val="FFFFFF"/>
              </a:solidFill>
              <a:latin typeface="Trebuchet MS" pitchFamily="34" charset="0"/>
              <a:ea typeface="Trebuchet MS" pitchFamily="34" charset="-122"/>
              <a:cs typeface="Trebuchet MS" pitchFamily="34" charset="-120"/>
            </a:endParaRPr>
          </a:p>
        </p:txBody>
      </p:sp>
      <p:grpSp>
        <p:nvGrpSpPr>
          <p:cNvPr id="27" name="Group 26">
            <a:extLst>
              <a:ext uri="{FF2B5EF4-FFF2-40B4-BE49-F238E27FC236}">
                <a16:creationId xmlns:a16="http://schemas.microsoft.com/office/drawing/2014/main" id="{FE90E9A9-BD7B-4A8E-9782-8E795C587930}"/>
              </a:ext>
            </a:extLst>
          </p:cNvPr>
          <p:cNvGrpSpPr/>
          <p:nvPr/>
        </p:nvGrpSpPr>
        <p:grpSpPr>
          <a:xfrm>
            <a:off x="4351021" y="904812"/>
            <a:ext cx="4525174" cy="584775"/>
            <a:chOff x="4819097" y="2094230"/>
            <a:chExt cx="1980844" cy="541045"/>
          </a:xfrm>
        </p:grpSpPr>
        <p:sp>
          <p:nvSpPr>
            <p:cNvPr id="28" name="TextBox 27">
              <a:extLst>
                <a:ext uri="{FF2B5EF4-FFF2-40B4-BE49-F238E27FC236}">
                  <a16:creationId xmlns:a16="http://schemas.microsoft.com/office/drawing/2014/main" id="{A70C9E7A-A3E1-476A-9E50-368AF02593E8}"/>
                </a:ext>
              </a:extLst>
            </p:cNvPr>
            <p:cNvSpPr txBox="1"/>
            <p:nvPr/>
          </p:nvSpPr>
          <p:spPr>
            <a:xfrm>
              <a:off x="5143125" y="2094230"/>
              <a:ext cx="1656816" cy="541045"/>
            </a:xfrm>
            <a:prstGeom prst="rect">
              <a:avLst/>
            </a:prstGeom>
            <a:noFill/>
          </p:spPr>
          <p:txBody>
            <a:bodyPr wrap="square" rtlCol="0">
              <a:spAutoFit/>
            </a:bodyPr>
            <a:lstStyle/>
            <a:p>
              <a:r>
                <a:rPr lang="sr-Latn-RS" sz="800" dirty="0" smtClean="0">
                  <a:solidFill>
                    <a:srgbClr val="CB2414"/>
                  </a:solidFill>
                  <a:latin typeface="Helvetica" panose="020B0604020202020204" pitchFamily="34" charset="0"/>
                  <a:cs typeface="Helvetica" panose="020B0604020202020204" pitchFamily="34" charset="0"/>
                </a:rPr>
                <a:t>For this project i used Census Api data, with link to</a:t>
              </a:r>
            </a:p>
            <a:p>
              <a:r>
                <a:rPr lang="sr-Latn-RS" sz="800" dirty="0" smtClean="0">
                  <a:solidFill>
                    <a:srgbClr val="CB2414"/>
                  </a:solidFill>
                  <a:latin typeface="Helvetica" panose="020B0604020202020204" pitchFamily="34" charset="0"/>
                  <a:cs typeface="Helvetica" panose="020B0604020202020204" pitchFamily="34" charset="0"/>
                </a:rPr>
                <a:t>All B-code to see what it measures</a:t>
              </a:r>
            </a:p>
            <a:p>
              <a:r>
                <a:rPr lang="sr-Latn-RS" sz="800" dirty="0" smtClean="0">
                  <a:solidFill>
                    <a:srgbClr val="CB2414"/>
                  </a:solidFill>
                  <a:latin typeface="Helvetica" panose="020B0604020202020204" pitchFamily="34" charset="0"/>
                  <a:cs typeface="Helvetica" panose="020B0604020202020204" pitchFamily="34" charset="0"/>
                </a:rPr>
                <a:t>25 is the Massachusetts Fips code, and * is because I</a:t>
              </a:r>
            </a:p>
            <a:p>
              <a:r>
                <a:rPr lang="sr-Latn-RS" sz="800" dirty="0" smtClean="0">
                  <a:solidFill>
                    <a:srgbClr val="CB2414"/>
                  </a:solidFill>
                  <a:latin typeface="Helvetica" panose="020B0604020202020204" pitchFamily="34" charset="0"/>
                  <a:cs typeface="Helvetica" panose="020B0604020202020204" pitchFamily="34" charset="0"/>
                </a:rPr>
                <a:t>Want every single tract</a:t>
              </a:r>
              <a:endParaRPr lang="en-US" sz="800" dirty="0">
                <a:solidFill>
                  <a:srgbClr val="CB2414"/>
                </a:solidFill>
                <a:latin typeface="Helvetica" panose="020B0604020202020204" pitchFamily="34" charset="0"/>
                <a:cs typeface="Helvetica" panose="020B0604020202020204" pitchFamily="34" charset="0"/>
              </a:endParaRPr>
            </a:p>
          </p:txBody>
        </p:sp>
        <p:cxnSp>
          <p:nvCxnSpPr>
            <p:cNvPr id="29" name="Straight Arrow Connector 28">
              <a:extLst>
                <a:ext uri="{FF2B5EF4-FFF2-40B4-BE49-F238E27FC236}">
                  <a16:creationId xmlns:a16="http://schemas.microsoft.com/office/drawing/2014/main" id="{F36E2AD0-1600-4200-B3C5-4B2058F58AF1}"/>
                </a:ext>
              </a:extLst>
            </p:cNvPr>
            <p:cNvCxnSpPr>
              <a:cxnSpLocks/>
              <a:stCxn id="28" idx="1"/>
            </p:cNvCxnSpPr>
            <p:nvPr/>
          </p:nvCxnSpPr>
          <p:spPr>
            <a:xfrm flipH="1">
              <a:off x="4819097" y="2364753"/>
              <a:ext cx="324027" cy="56952"/>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FE90E9A9-BD7B-4A8E-9782-8E795C587930}"/>
              </a:ext>
            </a:extLst>
          </p:cNvPr>
          <p:cNvGrpSpPr/>
          <p:nvPr/>
        </p:nvGrpSpPr>
        <p:grpSpPr>
          <a:xfrm>
            <a:off x="4495033" y="1726513"/>
            <a:ext cx="4525174" cy="569387"/>
            <a:chOff x="4756057" y="2053339"/>
            <a:chExt cx="1980844" cy="526806"/>
          </a:xfrm>
        </p:grpSpPr>
        <p:sp>
          <p:nvSpPr>
            <p:cNvPr id="35" name="TextBox 34">
              <a:extLst>
                <a:ext uri="{FF2B5EF4-FFF2-40B4-BE49-F238E27FC236}">
                  <a16:creationId xmlns:a16="http://schemas.microsoft.com/office/drawing/2014/main" id="{A70C9E7A-A3E1-476A-9E50-368AF02593E8}"/>
                </a:ext>
              </a:extLst>
            </p:cNvPr>
            <p:cNvSpPr txBox="1"/>
            <p:nvPr/>
          </p:nvSpPr>
          <p:spPr>
            <a:xfrm>
              <a:off x="5080085" y="2053339"/>
              <a:ext cx="1656816" cy="526806"/>
            </a:xfrm>
            <a:prstGeom prst="rect">
              <a:avLst/>
            </a:prstGeom>
            <a:noFill/>
          </p:spPr>
          <p:txBody>
            <a:bodyPr wrap="square" rtlCol="0">
              <a:spAutoFit/>
            </a:bodyPr>
            <a:lstStyle/>
            <a:p>
              <a:r>
                <a:rPr lang="sr-Latn-RS" sz="1000" dirty="0" smtClean="0">
                  <a:solidFill>
                    <a:srgbClr val="CB2414"/>
                  </a:solidFill>
                  <a:latin typeface="Helvetica" panose="020B0604020202020204" pitchFamily="34" charset="0"/>
                  <a:cs typeface="Helvetica" panose="020B0604020202020204" pitchFamily="34" charset="0"/>
                </a:rPr>
                <a:t>ACS_VARS-variable list, 20 census Variable codes requested</a:t>
              </a:r>
            </a:p>
            <a:p>
              <a:r>
                <a:rPr lang="sr-Latn-RS" sz="700" b="1" dirty="0" smtClean="0">
                  <a:latin typeface="Helvetica" panose="020B0604020202020204" pitchFamily="34" charset="0"/>
                  <a:cs typeface="Helvetica" panose="020B0604020202020204" pitchFamily="34" charset="0"/>
                </a:rPr>
                <a:t>***</a:t>
              </a:r>
              <a:r>
                <a:rPr lang="en-US" sz="700" b="1" dirty="0" smtClean="0">
                  <a:latin typeface="Helvetica" panose="020B0604020202020204" pitchFamily="34" charset="0"/>
                  <a:cs typeface="Helvetica" panose="020B0604020202020204" pitchFamily="34" charset="0"/>
                </a:rPr>
                <a:t>'B25064_001E',  # median gross rent</a:t>
              </a:r>
              <a:r>
                <a:rPr lang="sr-Latn-RS" sz="700" b="1" dirty="0" smtClean="0">
                  <a:latin typeface="Helvetica" panose="020B0604020202020204" pitchFamily="34" charset="0"/>
                  <a:cs typeface="Helvetica" panose="020B0604020202020204" pitchFamily="34" charset="0"/>
                </a:rPr>
                <a:t> </a:t>
              </a:r>
              <a:r>
                <a:rPr lang="sr-Latn-RS" sz="700" dirty="0" smtClean="0">
                  <a:solidFill>
                    <a:srgbClr val="CB2414"/>
                  </a:solidFill>
                  <a:latin typeface="Helvetica" panose="020B0604020202020204" pitchFamily="34" charset="0"/>
                  <a:cs typeface="Helvetica" panose="020B0604020202020204" pitchFamily="34" charset="0"/>
                </a:rPr>
                <a:t>(</a:t>
              </a:r>
              <a:r>
                <a:rPr lang="en-US" sz="700" dirty="0" smtClean="0">
                  <a:solidFill>
                    <a:srgbClr val="CB2414"/>
                  </a:solidFill>
                  <a:latin typeface="Helvetica" panose="020B0604020202020204" pitchFamily="34" charset="0"/>
                  <a:cs typeface="Helvetica" panose="020B0604020202020204" pitchFamily="34" charset="0"/>
                </a:rPr>
                <a:t>main outcome variable</a:t>
              </a:r>
              <a:r>
                <a:rPr lang="sr-Latn-RS" sz="700" dirty="0" smtClean="0">
                  <a:solidFill>
                    <a:srgbClr val="CB2414"/>
                  </a:solidFill>
                  <a:latin typeface="Helvetica" panose="020B0604020202020204" pitchFamily="34" charset="0"/>
                  <a:cs typeface="Helvetica" panose="020B0604020202020204" pitchFamily="34" charset="0"/>
                </a:rPr>
                <a:t>)</a:t>
              </a:r>
              <a:r>
                <a:rPr lang="en-US" sz="700" dirty="0" smtClean="0">
                  <a:solidFill>
                    <a:srgbClr val="CB2414"/>
                  </a:solidFill>
                  <a:latin typeface="Helvetica" panose="020B0604020202020204" pitchFamily="34" charset="0"/>
                  <a:cs typeface="Helvetica" panose="020B0604020202020204" pitchFamily="34" charset="0"/>
                </a:rPr>
                <a:t> — what </a:t>
              </a:r>
              <a:r>
                <a:rPr lang="sr-Latn-RS" sz="700" dirty="0" smtClean="0">
                  <a:solidFill>
                    <a:srgbClr val="CB2414"/>
                  </a:solidFill>
                  <a:latin typeface="Helvetica" panose="020B0604020202020204" pitchFamily="34" charset="0"/>
                  <a:cs typeface="Helvetica" panose="020B0604020202020204" pitchFamily="34" charset="0"/>
                </a:rPr>
                <a:t>Im</a:t>
              </a:r>
              <a:r>
                <a:rPr lang="en-US" sz="700" dirty="0" smtClean="0">
                  <a:solidFill>
                    <a:srgbClr val="CB2414"/>
                  </a:solidFill>
                  <a:latin typeface="Helvetica" panose="020B0604020202020204" pitchFamily="34" charset="0"/>
                  <a:cs typeface="Helvetica" panose="020B0604020202020204" pitchFamily="34" charset="0"/>
                </a:rPr>
                <a:t> trying to explain with zoning. The Census code for median monthly gross rent per tract</a:t>
              </a:r>
              <a:endParaRPr lang="sr-Latn-RS" sz="700" dirty="0" smtClean="0">
                <a:solidFill>
                  <a:srgbClr val="CB2414"/>
                </a:solidFill>
                <a:latin typeface="Helvetica" panose="020B0604020202020204" pitchFamily="34" charset="0"/>
                <a:cs typeface="Helvetica" panose="020B0604020202020204" pitchFamily="34" charset="0"/>
              </a:endParaRPr>
            </a:p>
            <a:p>
              <a:r>
                <a:rPr lang="sr-Latn-RS" sz="700" dirty="0" smtClean="0">
                  <a:solidFill>
                    <a:srgbClr val="CB2414"/>
                  </a:solidFill>
                  <a:latin typeface="Helvetica" panose="020B0604020202020204" pitchFamily="34" charset="0"/>
                  <a:cs typeface="Helvetica" panose="020B0604020202020204" pitchFamily="34" charset="0"/>
                </a:rPr>
                <a:t>Note:Name used foridentification, i.e.,e Census tract 101, Suffolk County, Massachusetts</a:t>
              </a:r>
            </a:p>
          </p:txBody>
        </p:sp>
        <p:cxnSp>
          <p:nvCxnSpPr>
            <p:cNvPr id="36" name="Straight Arrow Connector 35">
              <a:extLst>
                <a:ext uri="{FF2B5EF4-FFF2-40B4-BE49-F238E27FC236}">
                  <a16:creationId xmlns:a16="http://schemas.microsoft.com/office/drawing/2014/main" id="{F36E2AD0-1600-4200-B3C5-4B2058F58AF1}"/>
                </a:ext>
              </a:extLst>
            </p:cNvPr>
            <p:cNvCxnSpPr>
              <a:cxnSpLocks/>
              <a:stCxn id="35" idx="1"/>
            </p:cNvCxnSpPr>
            <p:nvPr/>
          </p:nvCxnSpPr>
          <p:spPr>
            <a:xfrm flipH="1" flipV="1">
              <a:off x="4756057" y="2122831"/>
              <a:ext cx="324027" cy="193911"/>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FE90E9A9-BD7B-4A8E-9782-8E795C587930}"/>
              </a:ext>
            </a:extLst>
          </p:cNvPr>
          <p:cNvGrpSpPr/>
          <p:nvPr/>
        </p:nvGrpSpPr>
        <p:grpSpPr>
          <a:xfrm>
            <a:off x="4610100" y="2400786"/>
            <a:ext cx="4393692" cy="799419"/>
            <a:chOff x="4806426" y="1840510"/>
            <a:chExt cx="1923289" cy="739635"/>
          </a:xfrm>
        </p:grpSpPr>
        <p:sp>
          <p:nvSpPr>
            <p:cNvPr id="44" name="TextBox 43">
              <a:extLst>
                <a:ext uri="{FF2B5EF4-FFF2-40B4-BE49-F238E27FC236}">
                  <a16:creationId xmlns:a16="http://schemas.microsoft.com/office/drawing/2014/main" id="{A70C9E7A-A3E1-476A-9E50-368AF02593E8}"/>
                </a:ext>
              </a:extLst>
            </p:cNvPr>
            <p:cNvSpPr txBox="1"/>
            <p:nvPr/>
          </p:nvSpPr>
          <p:spPr>
            <a:xfrm>
              <a:off x="5072899" y="1840510"/>
              <a:ext cx="1656816" cy="541043"/>
            </a:xfrm>
            <a:prstGeom prst="rect">
              <a:avLst/>
            </a:prstGeom>
            <a:noFill/>
          </p:spPr>
          <p:txBody>
            <a:bodyPr wrap="square" rtlCol="0">
              <a:spAutoFit/>
            </a:bodyPr>
            <a:lstStyle/>
            <a:p>
              <a:r>
                <a:rPr lang="sr-Latn-RS" sz="800" dirty="0" smtClean="0">
                  <a:solidFill>
                    <a:srgbClr val="CB2414"/>
                  </a:solidFill>
                  <a:latin typeface="Helvetica" panose="020B0604020202020204" pitchFamily="34" charset="0"/>
                  <a:cs typeface="Helvetica" panose="020B0604020202020204" pitchFamily="34" charset="0"/>
                </a:rPr>
                <a:t>Using Params: (get variable i want/for every tract/ in Massachusetts only)</a:t>
              </a:r>
            </a:p>
            <a:p>
              <a:r>
                <a:rPr lang="sr-Latn-RS" sz="800" b="1" dirty="0" smtClean="0">
                  <a:latin typeface="Helvetica" panose="020B0604020202020204" pitchFamily="34" charset="0"/>
                  <a:cs typeface="Helvetica" panose="020B0604020202020204" pitchFamily="34" charset="0"/>
                </a:rPr>
                <a:t>get</a:t>
              </a:r>
              <a:r>
                <a:rPr lang="sr-Latn-RS" sz="800" dirty="0" smtClean="0">
                  <a:solidFill>
                    <a:srgbClr val="CB2414"/>
                  </a:solidFill>
                  <a:latin typeface="Helvetica" panose="020B0604020202020204" pitchFamily="34" charset="0"/>
                  <a:cs typeface="Helvetica" panose="020B0604020202020204" pitchFamily="34" charset="0"/>
                </a:rPr>
                <a:t>-what variables i want (joins all 20 codes into one comma separated string</a:t>
              </a:r>
            </a:p>
            <a:p>
              <a:r>
                <a:rPr lang="sr-Latn-RS" sz="800" b="1" dirty="0">
                  <a:latin typeface="Helvetica" panose="020B0604020202020204" pitchFamily="34" charset="0"/>
                  <a:cs typeface="Helvetica" panose="020B0604020202020204" pitchFamily="34" charset="0"/>
                </a:rPr>
                <a:t>for</a:t>
              </a:r>
              <a:r>
                <a:rPr lang="sr-Latn-RS" sz="800" dirty="0" smtClean="0">
                  <a:solidFill>
                    <a:srgbClr val="CB2414"/>
                  </a:solidFill>
                  <a:latin typeface="Helvetica" panose="020B0604020202020204" pitchFamily="34" charset="0"/>
                  <a:cs typeface="Helvetica" panose="020B0604020202020204" pitchFamily="34" charset="0"/>
                </a:rPr>
                <a:t>: tracts: *-every census tract, * (so meaning all of them)</a:t>
              </a:r>
            </a:p>
            <a:p>
              <a:r>
                <a:rPr lang="sr-Latn-RS" sz="800" b="1" dirty="0" smtClean="0">
                  <a:latin typeface="Helvetica" panose="020B0604020202020204" pitchFamily="34" charset="0"/>
                  <a:cs typeface="Helvetica" panose="020B0604020202020204" pitchFamily="34" charset="0"/>
                </a:rPr>
                <a:t>in</a:t>
              </a:r>
              <a:r>
                <a:rPr lang="sr-Latn-RS" sz="800" dirty="0" smtClean="0">
                  <a:solidFill>
                    <a:srgbClr val="CB2414"/>
                  </a:solidFill>
                  <a:latin typeface="Helvetica" panose="020B0604020202020204" pitchFamily="34" charset="0"/>
                  <a:cs typeface="Helvetica" panose="020B0604020202020204" pitchFamily="34" charset="0"/>
                </a:rPr>
                <a:t>: state: 25-Massachusetts only-25 fed  Fips Massachusetts</a:t>
              </a:r>
            </a:p>
          </p:txBody>
        </p:sp>
        <p:cxnSp>
          <p:nvCxnSpPr>
            <p:cNvPr id="45" name="Straight Arrow Connector 44">
              <a:extLst>
                <a:ext uri="{FF2B5EF4-FFF2-40B4-BE49-F238E27FC236}">
                  <a16:creationId xmlns:a16="http://schemas.microsoft.com/office/drawing/2014/main" id="{F36E2AD0-1600-4200-B3C5-4B2058F58AF1}"/>
                </a:ext>
              </a:extLst>
            </p:cNvPr>
            <p:cNvCxnSpPr>
              <a:cxnSpLocks/>
            </p:cNvCxnSpPr>
            <p:nvPr/>
          </p:nvCxnSpPr>
          <p:spPr>
            <a:xfrm flipH="1">
              <a:off x="4806426" y="2279345"/>
              <a:ext cx="273659" cy="300800"/>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FE90E9A9-BD7B-4A8E-9782-8E795C587930}"/>
              </a:ext>
            </a:extLst>
          </p:cNvPr>
          <p:cNvGrpSpPr/>
          <p:nvPr/>
        </p:nvGrpSpPr>
        <p:grpSpPr>
          <a:xfrm>
            <a:off x="5202503" y="3139974"/>
            <a:ext cx="3801290" cy="1384995"/>
            <a:chOff x="5000077" y="2053340"/>
            <a:chExt cx="1736824" cy="1281418"/>
          </a:xfrm>
        </p:grpSpPr>
        <p:sp>
          <p:nvSpPr>
            <p:cNvPr id="52" name="TextBox 51">
              <a:extLst>
                <a:ext uri="{FF2B5EF4-FFF2-40B4-BE49-F238E27FC236}">
                  <a16:creationId xmlns:a16="http://schemas.microsoft.com/office/drawing/2014/main" id="{A70C9E7A-A3E1-476A-9E50-368AF02593E8}"/>
                </a:ext>
              </a:extLst>
            </p:cNvPr>
            <p:cNvSpPr txBox="1"/>
            <p:nvPr/>
          </p:nvSpPr>
          <p:spPr>
            <a:xfrm>
              <a:off x="5241202" y="2053340"/>
              <a:ext cx="1495699" cy="1281418"/>
            </a:xfrm>
            <a:prstGeom prst="rect">
              <a:avLst/>
            </a:prstGeom>
            <a:noFill/>
          </p:spPr>
          <p:txBody>
            <a:bodyPr wrap="square" rtlCol="0">
              <a:spAutoFit/>
            </a:bodyPr>
            <a:lstStyle/>
            <a:p>
              <a:r>
                <a:rPr lang="sr-Latn-RS" sz="700" b="1" dirty="0" smtClean="0">
                  <a:latin typeface="Helvetica" panose="020B0604020202020204" pitchFamily="34" charset="0"/>
                  <a:cs typeface="Helvetica" panose="020B0604020202020204" pitchFamily="34" charset="0"/>
                </a:rPr>
                <a:t>r</a:t>
              </a:r>
              <a:r>
                <a:rPr lang="sr-Latn-RS" sz="700" dirty="0" smtClean="0">
                  <a:solidFill>
                    <a:srgbClr val="CB2414"/>
                  </a:solidFill>
                  <a:latin typeface="Helvetica" panose="020B0604020202020204" pitchFamily="34" charset="0"/>
                  <a:cs typeface="Helvetica" panose="020B0604020202020204" pitchFamily="34" charset="0"/>
                </a:rPr>
                <a:t>= requests.get – send the request to Census server and store in r </a:t>
              </a:r>
            </a:p>
            <a:p>
              <a:r>
                <a:rPr lang="sr-Latn-RS" sz="700" b="1" dirty="0" smtClean="0">
                  <a:latin typeface="Helvetica" panose="020B0604020202020204" pitchFamily="34" charset="0"/>
                  <a:cs typeface="Helvetica" panose="020B0604020202020204" pitchFamily="34" charset="0"/>
                </a:rPr>
                <a:t>data </a:t>
              </a:r>
              <a:r>
                <a:rPr lang="sr-Latn-RS" sz="700" dirty="0" smtClean="0">
                  <a:solidFill>
                    <a:srgbClr val="CB2414"/>
                  </a:solidFill>
                  <a:latin typeface="Helvetica" panose="020B0604020202020204" pitchFamily="34" charset="0"/>
                  <a:cs typeface="Helvetica" panose="020B0604020202020204" pitchFamily="34" charset="0"/>
                </a:rPr>
                <a:t>= r.json – Census server sends my response in JSON format, parses text into python list</a:t>
              </a:r>
            </a:p>
            <a:p>
              <a:r>
                <a:rPr lang="sr-Latn-RS" sz="700" b="1" dirty="0" smtClean="0">
                  <a:latin typeface="Helvetica" panose="020B0604020202020204" pitchFamily="34" charset="0"/>
                  <a:cs typeface="Helvetica" panose="020B0604020202020204" pitchFamily="34" charset="0"/>
                </a:rPr>
                <a:t>Acs= pd.DataFrame </a:t>
              </a:r>
              <a:r>
                <a:rPr lang="sr-Latn-RS" sz="700" dirty="0" smtClean="0">
                  <a:solidFill>
                    <a:srgbClr val="CB2414"/>
                  </a:solidFill>
                  <a:latin typeface="Helvetica" panose="020B0604020202020204" pitchFamily="34" charset="0"/>
                  <a:cs typeface="Helvetica" panose="020B0604020202020204" pitchFamily="34" charset="0"/>
                </a:rPr>
                <a:t>–conert the raw list into table (result is clean table 1478 rows)</a:t>
              </a:r>
            </a:p>
            <a:p>
              <a:r>
                <a:rPr lang="sr-Latn-RS" sz="700" b="1" dirty="0" smtClean="0">
                  <a:latin typeface="Helvetica" panose="020B0604020202020204" pitchFamily="34" charset="0"/>
                  <a:cs typeface="Helvetica" panose="020B0604020202020204" pitchFamily="34" charset="0"/>
                </a:rPr>
                <a:t>acs [’GEOID’]- </a:t>
              </a:r>
              <a:r>
                <a:rPr lang="sr-Latn-RS" sz="700" dirty="0" smtClean="0">
                  <a:solidFill>
                    <a:srgbClr val="CB2414"/>
                  </a:solidFill>
                  <a:latin typeface="Helvetica" panose="020B0604020202020204" pitchFamily="34" charset="0"/>
                  <a:cs typeface="Helvetica" panose="020B0604020202020204" pitchFamily="34" charset="0"/>
                </a:rPr>
                <a:t>give unique ID number (comb state+county+tract]</a:t>
              </a:r>
            </a:p>
            <a:p>
              <a:r>
                <a:rPr lang="sr-Latn-RS" sz="700" b="1" dirty="0" smtClean="0">
                  <a:latin typeface="Helvetica" panose="020B0604020202020204" pitchFamily="34" charset="0"/>
                  <a:cs typeface="Helvetica" panose="020B0604020202020204" pitchFamily="34" charset="0"/>
                </a:rPr>
                <a:t>NUM_VARS</a:t>
              </a:r>
              <a:r>
                <a:rPr lang="sr-Latn-RS" sz="700" dirty="0" smtClean="0">
                  <a:solidFill>
                    <a:srgbClr val="CB2414"/>
                  </a:solidFill>
                  <a:latin typeface="Helvetica" panose="020B0604020202020204" pitchFamily="34" charset="0"/>
                  <a:cs typeface="Helvetica" panose="020B0604020202020204" pitchFamily="34" charset="0"/>
                </a:rPr>
                <a:t>-my variable list removing last name (not number)</a:t>
              </a:r>
            </a:p>
            <a:p>
              <a:r>
                <a:rPr lang="sr-Latn-RS" sz="700" b="1" dirty="0" smtClean="0">
                  <a:latin typeface="Helvetica" panose="020B0604020202020204" pitchFamily="34" charset="0"/>
                  <a:cs typeface="Helvetica" panose="020B0604020202020204" pitchFamily="34" charset="0"/>
                </a:rPr>
                <a:t>Acs[NUM_VARS]-</a:t>
              </a:r>
              <a:r>
                <a:rPr lang="sr-Latn-RS" sz="700" dirty="0" smtClean="0">
                  <a:solidFill>
                    <a:srgbClr val="CB2414"/>
                  </a:solidFill>
                  <a:latin typeface="Helvetica" panose="020B0604020202020204" pitchFamily="34" charset="0"/>
                  <a:cs typeface="Helvetica" panose="020B0604020202020204" pitchFamily="34" charset="0"/>
                </a:rPr>
                <a:t>Census sends all values as text- and this converts them into numbers</a:t>
              </a:r>
            </a:p>
            <a:p>
              <a:endParaRPr lang="sr-Latn-RS" sz="700" dirty="0">
                <a:solidFill>
                  <a:srgbClr val="CB2414"/>
                </a:solidFill>
                <a:latin typeface="Helvetica" panose="020B0604020202020204" pitchFamily="34" charset="0"/>
                <a:cs typeface="Helvetica" panose="020B0604020202020204" pitchFamily="34" charset="0"/>
              </a:endParaRPr>
            </a:p>
            <a:p>
              <a:r>
                <a:rPr lang="sr-Latn-RS" sz="700" dirty="0" smtClean="0">
                  <a:solidFill>
                    <a:srgbClr val="CB2414"/>
                  </a:solidFill>
                  <a:latin typeface="Helvetica" panose="020B0604020202020204" pitchFamily="34" charset="0"/>
                  <a:cs typeface="Helvetica" panose="020B0604020202020204" pitchFamily="34" charset="0"/>
                </a:rPr>
                <a:t>-Census uses -666666 to mean data missing-swap with NaN</a:t>
              </a:r>
            </a:p>
            <a:p>
              <a:endParaRPr lang="sr-Latn-RS" sz="700" dirty="0" smtClean="0">
                <a:solidFill>
                  <a:srgbClr val="CB2414"/>
                </a:solidFill>
                <a:latin typeface="Helvetica" panose="020B0604020202020204" pitchFamily="34" charset="0"/>
                <a:cs typeface="Helvetica" panose="020B0604020202020204" pitchFamily="34" charset="0"/>
              </a:endParaRPr>
            </a:p>
          </p:txBody>
        </p:sp>
        <p:cxnSp>
          <p:nvCxnSpPr>
            <p:cNvPr id="53" name="Straight Arrow Connector 52">
              <a:extLst>
                <a:ext uri="{FF2B5EF4-FFF2-40B4-BE49-F238E27FC236}">
                  <a16:creationId xmlns:a16="http://schemas.microsoft.com/office/drawing/2014/main" id="{F36E2AD0-1600-4200-B3C5-4B2058F58AF1}"/>
                </a:ext>
              </a:extLst>
            </p:cNvPr>
            <p:cNvCxnSpPr>
              <a:cxnSpLocks/>
            </p:cNvCxnSpPr>
            <p:nvPr/>
          </p:nvCxnSpPr>
          <p:spPr>
            <a:xfrm flipH="1">
              <a:off x="5000077" y="2337671"/>
              <a:ext cx="233625" cy="242474"/>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pic>
        <p:nvPicPr>
          <p:cNvPr id="2" name="Picture 1"/>
          <p:cNvPicPr>
            <a:picLocks noChangeAspect="1"/>
          </p:cNvPicPr>
          <p:nvPr/>
        </p:nvPicPr>
        <p:blipFill rotWithShape="1">
          <a:blip r:embed="rId4"/>
          <a:srcRect l="4499" t="41000" r="16166" b="43889"/>
          <a:stretch/>
        </p:blipFill>
        <p:spPr>
          <a:xfrm>
            <a:off x="239268" y="3347765"/>
            <a:ext cx="4851982" cy="4273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5" name="Text 3"/>
          <p:cNvSpPr/>
          <p:nvPr/>
        </p:nvSpPr>
        <p:spPr>
          <a:xfrm>
            <a:off x="457200" y="1197864"/>
            <a:ext cx="502920" cy="384048"/>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sp>
        <p:nvSpPr>
          <p:cNvPr id="26" name="Rectangle 25"/>
          <p:cNvSpPr/>
          <p:nvPr/>
        </p:nvSpPr>
        <p:spPr>
          <a:xfrm>
            <a:off x="239268" y="102314"/>
            <a:ext cx="6428042" cy="615553"/>
          </a:xfrm>
          <a:prstGeom prst="rect">
            <a:avLst/>
          </a:prstGeom>
        </p:spPr>
        <p:txBody>
          <a:bodyPr wrap="none">
            <a:spAutoFit/>
          </a:bodyPr>
          <a:lstStyle/>
          <a:p>
            <a:r>
              <a:rPr lang="en-US" sz="3400" b="1" dirty="0">
                <a:solidFill>
                  <a:srgbClr val="FFFFFF"/>
                </a:solidFill>
                <a:latin typeface="Trebuchet MS" pitchFamily="34" charset="0"/>
                <a:ea typeface="Trebuchet MS" pitchFamily="34" charset="-122"/>
                <a:cs typeface="Trebuchet MS" pitchFamily="34" charset="-120"/>
              </a:rPr>
              <a:t>Step </a:t>
            </a:r>
            <a:r>
              <a:rPr lang="sr-Latn-RS" sz="3400" b="1" dirty="0" smtClean="0">
                <a:solidFill>
                  <a:srgbClr val="FFFFFF"/>
                </a:solidFill>
                <a:latin typeface="Trebuchet MS" pitchFamily="34" charset="0"/>
                <a:ea typeface="Trebuchet MS" pitchFamily="34" charset="-122"/>
                <a:cs typeface="Trebuchet MS" pitchFamily="34" charset="-120"/>
              </a:rPr>
              <a:t>2</a:t>
            </a:r>
            <a:r>
              <a:rPr lang="en-US" sz="3400" b="1" dirty="0" smtClean="0">
                <a:solidFill>
                  <a:srgbClr val="FFFFFF"/>
                </a:solidFill>
                <a:latin typeface="Trebuchet MS" pitchFamily="34" charset="0"/>
                <a:ea typeface="Trebuchet MS" pitchFamily="34" charset="-122"/>
                <a:cs typeface="Trebuchet MS" pitchFamily="34" charset="-120"/>
              </a:rPr>
              <a:t>:</a:t>
            </a:r>
            <a:r>
              <a:rPr lang="sr-Latn-RS" sz="3400" b="1" dirty="0" smtClean="0">
                <a:solidFill>
                  <a:srgbClr val="FFFFFF"/>
                </a:solidFill>
                <a:latin typeface="Trebuchet MS" pitchFamily="34" charset="0"/>
                <a:ea typeface="Trebuchet MS" pitchFamily="34" charset="-122"/>
                <a:cs typeface="Trebuchet MS" pitchFamily="34" charset="-120"/>
              </a:rPr>
              <a:t> Creating new Variables</a:t>
            </a:r>
            <a:endParaRPr lang="en-US" sz="3400" b="1" dirty="0">
              <a:solidFill>
                <a:srgbClr val="FFFFFF"/>
              </a:solidFill>
              <a:latin typeface="Trebuchet MS" pitchFamily="34" charset="0"/>
              <a:ea typeface="Trebuchet MS" pitchFamily="34" charset="-122"/>
              <a:cs typeface="Trebuchet MS" pitchFamily="34" charset="-120"/>
            </a:endParaRPr>
          </a:p>
        </p:txBody>
      </p:sp>
      <p:sp>
        <p:nvSpPr>
          <p:cNvPr id="30" name="Rectangle 29"/>
          <p:cNvSpPr/>
          <p:nvPr/>
        </p:nvSpPr>
        <p:spPr>
          <a:xfrm>
            <a:off x="4351021" y="689359"/>
            <a:ext cx="4652771" cy="43137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FE90E9A9-BD7B-4A8E-9782-8E795C587930}"/>
              </a:ext>
            </a:extLst>
          </p:cNvPr>
          <p:cNvGrpSpPr/>
          <p:nvPr/>
        </p:nvGrpSpPr>
        <p:grpSpPr>
          <a:xfrm>
            <a:off x="4351021" y="904810"/>
            <a:ext cx="4525174" cy="830997"/>
            <a:chOff x="4819097" y="2094230"/>
            <a:chExt cx="1980844" cy="768855"/>
          </a:xfrm>
        </p:grpSpPr>
        <p:sp>
          <p:nvSpPr>
            <p:cNvPr id="28" name="TextBox 27">
              <a:extLst>
                <a:ext uri="{FF2B5EF4-FFF2-40B4-BE49-F238E27FC236}">
                  <a16:creationId xmlns:a16="http://schemas.microsoft.com/office/drawing/2014/main" id="{A70C9E7A-A3E1-476A-9E50-368AF02593E8}"/>
                </a:ext>
              </a:extLst>
            </p:cNvPr>
            <p:cNvSpPr txBox="1"/>
            <p:nvPr/>
          </p:nvSpPr>
          <p:spPr>
            <a:xfrm>
              <a:off x="5143125" y="2094230"/>
              <a:ext cx="1656816" cy="768855"/>
            </a:xfrm>
            <a:prstGeom prst="rect">
              <a:avLst/>
            </a:prstGeom>
            <a:noFill/>
          </p:spPr>
          <p:txBody>
            <a:bodyPr wrap="square" rtlCol="0">
              <a:spAutoFit/>
            </a:bodyPr>
            <a:lstStyle/>
            <a:p>
              <a:pPr marL="228600" indent="-228600">
                <a:buAutoNum type="arabicPeriod"/>
              </a:pPr>
              <a:r>
                <a:rPr lang="sr-Latn-RS" sz="800" b="1" dirty="0" smtClean="0">
                  <a:latin typeface="Helvetica" panose="020B0604020202020204" pitchFamily="34" charset="0"/>
                  <a:cs typeface="Helvetica" panose="020B0604020202020204" pitchFamily="34" charset="0"/>
                </a:rPr>
                <a:t>Units gentle</a:t>
              </a:r>
              <a:r>
                <a:rPr lang="sr-Latn-RS" sz="800" dirty="0" smtClean="0">
                  <a:solidFill>
                    <a:srgbClr val="CB2414"/>
                  </a:solidFill>
                  <a:latin typeface="Helvetica" panose="020B0604020202020204" pitchFamily="34" charset="0"/>
                  <a:cs typeface="Helvetica" panose="020B0604020202020204" pitchFamily="34" charset="0"/>
                </a:rPr>
                <a:t>= total count of small multifamily buildings in each tract (2 units +3.4 unit buildings)</a:t>
              </a:r>
            </a:p>
            <a:p>
              <a:pPr marL="228600" indent="-228600">
                <a:buAutoNum type="arabicPeriod"/>
              </a:pPr>
              <a:r>
                <a:rPr lang="sr-Latn-RS" sz="800" b="1" dirty="0" smtClean="0">
                  <a:latin typeface="Helvetica" panose="020B0604020202020204" pitchFamily="34" charset="0"/>
                  <a:cs typeface="Helvetica" panose="020B0604020202020204" pitchFamily="34" charset="0"/>
                </a:rPr>
                <a:t>Units_heigh</a:t>
              </a:r>
              <a:r>
                <a:rPr lang="sr-Latn-RS" sz="800" dirty="0" smtClean="0">
                  <a:solidFill>
                    <a:srgbClr val="CB2414"/>
                  </a:solidFill>
                  <a:latin typeface="Helvetica" panose="020B0604020202020204" pitchFamily="34" charset="0"/>
                  <a:cs typeface="Helvetica" panose="020B0604020202020204" pitchFamily="34" charset="0"/>
                </a:rPr>
                <a:t>= all 5+ unit buildings combined (hig density count)</a:t>
              </a:r>
            </a:p>
            <a:p>
              <a:pPr marL="228600" indent="-228600">
                <a:buAutoNum type="arabicPeriod"/>
              </a:pPr>
              <a:r>
                <a:rPr lang="sr-Latn-RS" sz="800" b="1" dirty="0" smtClean="0">
                  <a:latin typeface="Helvetica" panose="020B0604020202020204" pitchFamily="34" charset="0"/>
                  <a:cs typeface="Helvetica" panose="020B0604020202020204" pitchFamily="34" charset="0"/>
                </a:rPr>
                <a:t>Gentle density share</a:t>
              </a:r>
              <a:r>
                <a:rPr lang="sr-Latn-RS" sz="800" dirty="0" smtClean="0">
                  <a:solidFill>
                    <a:srgbClr val="CB2414"/>
                  </a:solidFill>
                  <a:latin typeface="Helvetica" panose="020B0604020202020204" pitchFamily="34" charset="0"/>
                  <a:cs typeface="Helvetica" panose="020B0604020202020204" pitchFamily="34" charset="0"/>
                </a:rPr>
                <a:t>= making tracts comparable regardless of size ( share between 0 and 1)</a:t>
              </a:r>
            </a:p>
            <a:p>
              <a:pPr marL="228600" indent="-228600">
                <a:buAutoNum type="arabicPeriod"/>
              </a:pPr>
              <a:r>
                <a:rPr lang="sr-Latn-RS" sz="800" b="1" dirty="0" smtClean="0">
                  <a:latin typeface="Helvetica" panose="020B0604020202020204" pitchFamily="34" charset="0"/>
                  <a:cs typeface="Helvetica" panose="020B0604020202020204" pitchFamily="34" charset="0"/>
                </a:rPr>
                <a:t>Median rent/value and income </a:t>
              </a:r>
              <a:r>
                <a:rPr lang="sr-Latn-RS" sz="800" dirty="0" smtClean="0">
                  <a:solidFill>
                    <a:srgbClr val="CB2414"/>
                  </a:solidFill>
                  <a:latin typeface="Helvetica" panose="020B0604020202020204" pitchFamily="34" charset="0"/>
                  <a:cs typeface="Helvetica" panose="020B0604020202020204" pitchFamily="34" charset="0"/>
                </a:rPr>
                <a:t>are just renamed to better names</a:t>
              </a:r>
            </a:p>
          </p:txBody>
        </p:sp>
        <p:cxnSp>
          <p:nvCxnSpPr>
            <p:cNvPr id="29" name="Straight Arrow Connector 28">
              <a:extLst>
                <a:ext uri="{FF2B5EF4-FFF2-40B4-BE49-F238E27FC236}">
                  <a16:creationId xmlns:a16="http://schemas.microsoft.com/office/drawing/2014/main" id="{F36E2AD0-1600-4200-B3C5-4B2058F58AF1}"/>
                </a:ext>
              </a:extLst>
            </p:cNvPr>
            <p:cNvCxnSpPr>
              <a:cxnSpLocks/>
              <a:stCxn id="28" idx="1"/>
            </p:cNvCxnSpPr>
            <p:nvPr/>
          </p:nvCxnSpPr>
          <p:spPr>
            <a:xfrm flipH="1">
              <a:off x="4819097" y="2364753"/>
              <a:ext cx="324027" cy="56952"/>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FE90E9A9-BD7B-4A8E-9782-8E795C587930}"/>
              </a:ext>
            </a:extLst>
          </p:cNvPr>
          <p:cNvGrpSpPr/>
          <p:nvPr/>
        </p:nvGrpSpPr>
        <p:grpSpPr>
          <a:xfrm>
            <a:off x="4554748" y="2150899"/>
            <a:ext cx="4225123" cy="2246769"/>
            <a:chOff x="4806426" y="2053339"/>
            <a:chExt cx="1930475" cy="2078744"/>
          </a:xfrm>
        </p:grpSpPr>
        <p:sp>
          <p:nvSpPr>
            <p:cNvPr id="52" name="TextBox 51">
              <a:extLst>
                <a:ext uri="{FF2B5EF4-FFF2-40B4-BE49-F238E27FC236}">
                  <a16:creationId xmlns:a16="http://schemas.microsoft.com/office/drawing/2014/main" id="{A70C9E7A-A3E1-476A-9E50-368AF02593E8}"/>
                </a:ext>
              </a:extLst>
            </p:cNvPr>
            <p:cNvSpPr txBox="1"/>
            <p:nvPr/>
          </p:nvSpPr>
          <p:spPr>
            <a:xfrm>
              <a:off x="5051557" y="2053339"/>
              <a:ext cx="1685344" cy="2078744"/>
            </a:xfrm>
            <a:prstGeom prst="rect">
              <a:avLst/>
            </a:prstGeom>
            <a:noFill/>
          </p:spPr>
          <p:txBody>
            <a:bodyPr wrap="square" rtlCol="0">
              <a:spAutoFit/>
            </a:bodyPr>
            <a:lstStyle/>
            <a:p>
              <a:r>
                <a:rPr lang="sr-Latn-RS" sz="700" b="1" dirty="0" smtClean="0">
                  <a:latin typeface="Helvetica" panose="020B0604020202020204" pitchFamily="34" charset="0"/>
                  <a:cs typeface="Helvetica" panose="020B0604020202020204" pitchFamily="34" charset="0"/>
                </a:rPr>
                <a:t>5. bea_monthly cost- </a:t>
              </a:r>
              <a:r>
                <a:rPr lang="sr-Latn-RS" sz="700" dirty="0" smtClean="0">
                  <a:solidFill>
                    <a:srgbClr val="C00000"/>
                  </a:solidFill>
                  <a:latin typeface="Helvetica" panose="020B0604020202020204" pitchFamily="34" charset="0"/>
                  <a:cs typeface="Helvetica" panose="020B0604020202020204" pitchFamily="34" charset="0"/>
                </a:rPr>
                <a:t>(Bureau of Economic Analysis- measures/tracks economic activity, estimating implicit cost at 6.29% of the homes value per year,</a:t>
              </a:r>
            </a:p>
            <a:p>
              <a:endParaRPr lang="sr-Latn-RS" sz="700" b="1" dirty="0">
                <a:solidFill>
                  <a:srgbClr val="C00000"/>
                </a:solidFill>
                <a:latin typeface="Helvetica" panose="020B0604020202020204" pitchFamily="34" charset="0"/>
                <a:cs typeface="Helvetica" panose="020B0604020202020204" pitchFamily="34" charset="0"/>
              </a:endParaRPr>
            </a:p>
            <a:p>
              <a:r>
                <a:rPr lang="sr-Latn-RS" sz="700" dirty="0" smtClean="0">
                  <a:latin typeface="Helvetica" panose="020B0604020202020204" pitchFamily="34" charset="0"/>
                  <a:cs typeface="Helvetica" panose="020B0604020202020204" pitchFamily="34" charset="0"/>
                </a:rPr>
                <a:t>Note: Census only collects rent data for renter occupied units-if tract is mostly homeowners (median_rent = NaN) i had 64 tracts like that in suburban and rural areas, instead i used BEAD to find what housing costs in those tracts are</a:t>
              </a:r>
            </a:p>
            <a:p>
              <a:endParaRPr lang="sr-Latn-RS" sz="700" b="1" dirty="0">
                <a:solidFill>
                  <a:srgbClr val="C00000"/>
                </a:solidFill>
                <a:latin typeface="Helvetica" panose="020B0604020202020204" pitchFamily="34" charset="0"/>
                <a:cs typeface="Helvetica" panose="020B0604020202020204" pitchFamily="34" charset="0"/>
              </a:endParaRPr>
            </a:p>
            <a:p>
              <a:r>
                <a:rPr lang="sr-Latn-RS" sz="700" b="1" dirty="0" smtClean="0">
                  <a:latin typeface="Helvetica" panose="020B0604020202020204" pitchFamily="34" charset="0"/>
                  <a:cs typeface="Helvetica" panose="020B0604020202020204" pitchFamily="34" charset="0"/>
                </a:rPr>
                <a:t>6. np.where-if </a:t>
              </a:r>
              <a:r>
                <a:rPr lang="sr-Latn-RS" sz="700" dirty="0" smtClean="0">
                  <a:solidFill>
                    <a:srgbClr val="C00000"/>
                  </a:solidFill>
                  <a:latin typeface="Helvetica" panose="020B0604020202020204" pitchFamily="34" charset="0"/>
                  <a:cs typeface="Helvetica" panose="020B0604020202020204" pitchFamily="34" charset="0"/>
                </a:rPr>
                <a:t>real rents exists use it if not use BEA estimate (alows me to keep my 1478 tracts for the analysis)</a:t>
              </a:r>
              <a:endParaRPr lang="sr-Latn-RS" sz="700" dirty="0">
                <a:solidFill>
                  <a:srgbClr val="C00000"/>
                </a:solidFill>
                <a:latin typeface="Helvetica" panose="020B0604020202020204" pitchFamily="34" charset="0"/>
                <a:cs typeface="Helvetica" panose="020B0604020202020204" pitchFamily="34" charset="0"/>
              </a:endParaRPr>
            </a:p>
            <a:p>
              <a:r>
                <a:rPr lang="sr-Latn-RS" sz="700" b="1" dirty="0" smtClean="0">
                  <a:latin typeface="Helvetica" panose="020B0604020202020204" pitchFamily="34" charset="0"/>
                  <a:cs typeface="Helvetica" panose="020B0604020202020204" pitchFamily="34" charset="0"/>
                </a:rPr>
                <a:t>7. med_du- finding middle point of gentle density to find above or medlow median (1 or 0)</a:t>
              </a:r>
            </a:p>
            <a:p>
              <a:r>
                <a:rPr lang="sr-Latn-RS" sz="700" b="1" dirty="0" smtClean="0">
                  <a:latin typeface="Helvetica" panose="020B0604020202020204" pitchFamily="34" charset="0"/>
                  <a:cs typeface="Helvetica" panose="020B0604020202020204" pitchFamily="34" charset="0"/>
                </a:rPr>
                <a:t>8. treated_dupas = </a:t>
              </a:r>
              <a:r>
                <a:rPr lang="sr-Latn-RS" sz="700" dirty="0">
                  <a:solidFill>
                    <a:srgbClr val="C00000"/>
                  </a:solidFill>
                  <a:latin typeface="Helvetica" panose="020B0604020202020204" pitchFamily="34" charset="0"/>
                  <a:cs typeface="Helvetica" panose="020B0604020202020204" pitchFamily="34" charset="0"/>
                </a:rPr>
                <a:t>1 for above the median density (treated) 0 for below median density (control)</a:t>
              </a:r>
            </a:p>
            <a:p>
              <a:endParaRPr lang="sr-Latn-RS" sz="700" dirty="0" smtClean="0">
                <a:solidFill>
                  <a:srgbClr val="C00000"/>
                </a:solidFill>
                <a:latin typeface="Helvetica" panose="020B0604020202020204" pitchFamily="34" charset="0"/>
                <a:cs typeface="Helvetica" panose="020B0604020202020204" pitchFamily="34" charset="0"/>
              </a:endParaRPr>
            </a:p>
            <a:p>
              <a:r>
                <a:rPr lang="sr-Latn-RS" sz="700" dirty="0">
                  <a:latin typeface="Helvetica" panose="020B0604020202020204" pitchFamily="34" charset="0"/>
                  <a:cs typeface="Helvetica" panose="020B0604020202020204" pitchFamily="34" charset="0"/>
                </a:rPr>
                <a:t>Holdin income., povery and renter share constant t</a:t>
              </a:r>
              <a:r>
                <a:rPr lang="en-US" sz="700" dirty="0">
                  <a:latin typeface="Helvetica" panose="020B0604020202020204" pitchFamily="34" charset="0"/>
                  <a:cs typeface="Helvetica" panose="020B0604020202020204" pitchFamily="34" charset="0"/>
                </a:rPr>
                <a:t>o see if having more missing middle housing actually leads to lower rent</a:t>
              </a:r>
              <a:r>
                <a:rPr lang="en-US" sz="700" dirty="0" smtClean="0">
                  <a:latin typeface="Helvetica" panose="020B0604020202020204" pitchFamily="34" charset="0"/>
                  <a:cs typeface="Helvetica" panose="020B0604020202020204" pitchFamily="34" charset="0"/>
                </a:rPr>
                <a:t>.</a:t>
              </a:r>
              <a:endParaRPr lang="sr-Latn-RS" sz="700" dirty="0" smtClean="0">
                <a:latin typeface="Helvetica" panose="020B0604020202020204" pitchFamily="34" charset="0"/>
                <a:cs typeface="Helvetica" panose="020B0604020202020204" pitchFamily="34" charset="0"/>
              </a:endParaRPr>
            </a:p>
            <a:p>
              <a:endParaRPr lang="sr-Latn-RS" sz="700" b="1" dirty="0">
                <a:latin typeface="Helvetica" panose="020B0604020202020204" pitchFamily="34" charset="0"/>
                <a:cs typeface="Helvetica" panose="020B0604020202020204" pitchFamily="34" charset="0"/>
              </a:endParaRPr>
            </a:p>
            <a:p>
              <a:r>
                <a:rPr lang="sr-Latn-RS" sz="700" b="1" dirty="0" smtClean="0">
                  <a:latin typeface="Helvetica" panose="020B0604020202020204" pitchFamily="34" charset="0"/>
                  <a:cs typeface="Helvetica" panose="020B0604020202020204" pitchFamily="34" charset="0"/>
                </a:rPr>
                <a:t>9.Created povery_rate and minority share</a:t>
              </a:r>
              <a:r>
                <a:rPr lang="sr-Latn-RS" sz="700" b="1" dirty="0">
                  <a:solidFill>
                    <a:srgbClr val="C00000"/>
                  </a:solidFill>
                  <a:latin typeface="Helvetica" panose="020B0604020202020204" pitchFamily="34" charset="0"/>
                  <a:cs typeface="Helvetica" panose="020B0604020202020204" pitchFamily="34" charset="0"/>
                </a:rPr>
                <a:t>-control </a:t>
              </a:r>
              <a:r>
                <a:rPr lang="sr-Latn-RS" sz="700" dirty="0">
                  <a:solidFill>
                    <a:srgbClr val="C00000"/>
                  </a:solidFill>
                  <a:latin typeface="Helvetica" panose="020B0604020202020204" pitchFamily="34" charset="0"/>
                  <a:cs typeface="Helvetica" panose="020B0604020202020204" pitchFamily="34" charset="0"/>
                </a:rPr>
                <a:t>variables to separate zoning effect from pre-existing neighborhood disadvantages </a:t>
              </a:r>
            </a:p>
            <a:p>
              <a:endParaRPr lang="sr-Latn-RS" sz="700" b="1" dirty="0">
                <a:latin typeface="Helvetica" panose="020B0604020202020204" pitchFamily="34" charset="0"/>
                <a:cs typeface="Helvetica" panose="020B0604020202020204" pitchFamily="34" charset="0"/>
              </a:endParaRPr>
            </a:p>
          </p:txBody>
        </p:sp>
        <p:cxnSp>
          <p:nvCxnSpPr>
            <p:cNvPr id="53" name="Straight Arrow Connector 52">
              <a:extLst>
                <a:ext uri="{FF2B5EF4-FFF2-40B4-BE49-F238E27FC236}">
                  <a16:creationId xmlns:a16="http://schemas.microsoft.com/office/drawing/2014/main" id="{F36E2AD0-1600-4200-B3C5-4B2058F58AF1}"/>
                </a:ext>
              </a:extLst>
            </p:cNvPr>
            <p:cNvCxnSpPr>
              <a:cxnSpLocks/>
            </p:cNvCxnSpPr>
            <p:nvPr/>
          </p:nvCxnSpPr>
          <p:spPr>
            <a:xfrm flipH="1">
              <a:off x="4806426" y="2473020"/>
              <a:ext cx="197340" cy="107125"/>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36E2AD0-1600-4200-B3C5-4B2058F58AF1}"/>
                </a:ext>
              </a:extLst>
            </p:cNvPr>
            <p:cNvCxnSpPr>
              <a:cxnSpLocks/>
            </p:cNvCxnSpPr>
            <p:nvPr/>
          </p:nvCxnSpPr>
          <p:spPr>
            <a:xfrm flipH="1">
              <a:off x="4806426" y="3895673"/>
              <a:ext cx="197340" cy="107125"/>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gr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60444" r="7234" b="18963"/>
          <a:stretch/>
        </p:blipFill>
        <p:spPr>
          <a:xfrm>
            <a:off x="289551" y="1017545"/>
            <a:ext cx="3933873" cy="1059180"/>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7406" t="30815" r="9749" b="43556"/>
          <a:stretch/>
        </p:blipFill>
        <p:spPr>
          <a:xfrm>
            <a:off x="266549" y="2515149"/>
            <a:ext cx="3979875" cy="1318260"/>
          </a:xfrm>
          <a:prstGeom prst="rect">
            <a:avLst/>
          </a:prstGeom>
        </p:spPr>
      </p:pic>
      <p:pic>
        <p:nvPicPr>
          <p:cNvPr id="6" name="Picture 5"/>
          <p:cNvPicPr>
            <a:picLocks noChangeAspect="1"/>
          </p:cNvPicPr>
          <p:nvPr/>
        </p:nvPicPr>
        <p:blipFill rotWithShape="1">
          <a:blip r:embed="rId5"/>
          <a:srcRect l="16923" t="36852" r="24231" b="48561"/>
          <a:stretch/>
        </p:blipFill>
        <p:spPr>
          <a:xfrm>
            <a:off x="226637" y="4137069"/>
            <a:ext cx="3996787" cy="557286"/>
          </a:xfrm>
          <a:prstGeom prst="rect">
            <a:avLst/>
          </a:prstGeom>
        </p:spPr>
      </p:pic>
    </p:spTree>
    <p:extLst>
      <p:ext uri="{BB962C8B-B14F-4D97-AF65-F5344CB8AC3E}">
        <p14:creationId xmlns:p14="http://schemas.microsoft.com/office/powerpoint/2010/main" val="402821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5" name="Text 3"/>
          <p:cNvSpPr/>
          <p:nvPr/>
        </p:nvSpPr>
        <p:spPr>
          <a:xfrm>
            <a:off x="457200" y="1197864"/>
            <a:ext cx="502920" cy="384048"/>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sp>
        <p:nvSpPr>
          <p:cNvPr id="26" name="Rectangle 25"/>
          <p:cNvSpPr/>
          <p:nvPr/>
        </p:nvSpPr>
        <p:spPr>
          <a:xfrm>
            <a:off x="239268" y="102314"/>
            <a:ext cx="6674904" cy="615553"/>
          </a:xfrm>
          <a:prstGeom prst="rect">
            <a:avLst/>
          </a:prstGeom>
        </p:spPr>
        <p:txBody>
          <a:bodyPr wrap="none">
            <a:spAutoFit/>
          </a:bodyPr>
          <a:lstStyle/>
          <a:p>
            <a:r>
              <a:rPr lang="sr-Latn-RS" sz="3400" b="1" dirty="0" smtClean="0">
                <a:solidFill>
                  <a:srgbClr val="FFFFFF"/>
                </a:solidFill>
                <a:latin typeface="Trebuchet MS" pitchFamily="34" charset="0"/>
                <a:ea typeface="Trebuchet MS" pitchFamily="34" charset="-122"/>
                <a:cs typeface="Trebuchet MS" pitchFamily="34" charset="-120"/>
              </a:rPr>
              <a:t>Step 2: Output of new Variables</a:t>
            </a:r>
            <a:endParaRPr lang="en-US" sz="3400" dirty="0"/>
          </a:p>
        </p:txBody>
      </p:sp>
      <p:sp>
        <p:nvSpPr>
          <p:cNvPr id="30" name="Rectangle 29"/>
          <p:cNvSpPr/>
          <p:nvPr/>
        </p:nvSpPr>
        <p:spPr>
          <a:xfrm>
            <a:off x="4554746" y="1456628"/>
            <a:ext cx="4449046" cy="25273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A70C9E7A-A3E1-476A-9E50-368AF02593E8}"/>
              </a:ext>
            </a:extLst>
          </p:cNvPr>
          <p:cNvSpPr txBox="1"/>
          <p:nvPr/>
        </p:nvSpPr>
        <p:spPr>
          <a:xfrm>
            <a:off x="4755665" y="1596901"/>
            <a:ext cx="3688618" cy="1492716"/>
          </a:xfrm>
          <a:prstGeom prst="rect">
            <a:avLst/>
          </a:prstGeom>
          <a:noFill/>
        </p:spPr>
        <p:txBody>
          <a:bodyPr wrap="square" rtlCol="0">
            <a:spAutoFit/>
          </a:bodyPr>
          <a:lstStyle/>
          <a:p>
            <a:pPr marL="228600" indent="-228600">
              <a:buAutoNum type="arabicPeriod"/>
            </a:pPr>
            <a:r>
              <a:rPr lang="sr-Latn-RS" sz="700" b="1" dirty="0" smtClean="0">
                <a:solidFill>
                  <a:srgbClr val="FF0000"/>
                </a:solidFill>
                <a:latin typeface="Helvetica" panose="020B0604020202020204" pitchFamily="34" charset="0"/>
                <a:cs typeface="Helvetica" panose="020B0604020202020204" pitchFamily="34" charset="0"/>
              </a:rPr>
              <a:t>Missing median rent: </a:t>
            </a:r>
            <a:r>
              <a:rPr lang="sr-Latn-RS" sz="700" b="1" dirty="0" smtClean="0">
                <a:latin typeface="Helvetica" panose="020B0604020202020204" pitchFamily="34" charset="0"/>
                <a:cs typeface="Helvetica" panose="020B0604020202020204" pitchFamily="34" charset="0"/>
              </a:rPr>
              <a:t>of 64 tracts or 4.3% is important number and these are the tracts BEA head to fill in (owner occupied neighborhoods)</a:t>
            </a:r>
          </a:p>
          <a:p>
            <a:pPr marL="228600" indent="-228600">
              <a:buAutoNum type="arabicPeriod"/>
            </a:pPr>
            <a:endParaRPr lang="sr-Latn-RS" sz="700" b="1" dirty="0">
              <a:solidFill>
                <a:srgbClr val="C00000"/>
              </a:solidFill>
              <a:latin typeface="Helvetica" panose="020B0604020202020204" pitchFamily="34" charset="0"/>
              <a:cs typeface="Helvetica" panose="020B0604020202020204" pitchFamily="34" charset="0"/>
            </a:endParaRPr>
          </a:p>
          <a:p>
            <a:pPr marL="228600" indent="-228600">
              <a:buAutoNum type="arabicPeriod"/>
            </a:pPr>
            <a:r>
              <a:rPr lang="sr-Latn-RS" sz="700" b="1" dirty="0">
                <a:solidFill>
                  <a:srgbClr val="FF0000"/>
                </a:solidFill>
                <a:latin typeface="Helvetica" panose="020B0604020202020204" pitchFamily="34" charset="0"/>
                <a:cs typeface="Helvetica" panose="020B0604020202020204" pitchFamily="34" charset="0"/>
              </a:rPr>
              <a:t>Missing median value: </a:t>
            </a:r>
            <a:r>
              <a:rPr lang="sr-Latn-RS" sz="700" b="1" dirty="0">
                <a:latin typeface="Helvetica" panose="020B0604020202020204" pitchFamily="34" charset="0"/>
                <a:cs typeface="Helvetica" panose="020B0604020202020204" pitchFamily="34" charset="0"/>
              </a:rPr>
              <a:t>39 tract (2.6%) these are mostly rural tracts where home values were suppressed by Census-too few sales to report </a:t>
            </a:r>
            <a:r>
              <a:rPr lang="sr-Latn-RS" sz="700" b="1" dirty="0" smtClean="0">
                <a:latin typeface="Helvetica" panose="020B0604020202020204" pitchFamily="34" charset="0"/>
                <a:cs typeface="Helvetica" panose="020B0604020202020204" pitchFamily="34" charset="0"/>
              </a:rPr>
              <a:t>reliabily</a:t>
            </a:r>
          </a:p>
          <a:p>
            <a:endParaRPr lang="sr-Latn-RS" sz="700" b="1" dirty="0" smtClean="0">
              <a:latin typeface="Helvetica" panose="020B0604020202020204" pitchFamily="34" charset="0"/>
              <a:cs typeface="Helvetica" panose="020B0604020202020204" pitchFamily="34" charset="0"/>
            </a:endParaRPr>
          </a:p>
          <a:p>
            <a:pPr marL="228600" indent="-228600">
              <a:buAutoNum type="arabicPeriod" startAt="3"/>
            </a:pPr>
            <a:r>
              <a:rPr lang="sr-Latn-RS" sz="700" b="1" dirty="0">
                <a:solidFill>
                  <a:srgbClr val="FF0000"/>
                </a:solidFill>
                <a:latin typeface="Helvetica" panose="020B0604020202020204" pitchFamily="34" charset="0"/>
                <a:cs typeface="Helvetica" panose="020B0604020202020204" pitchFamily="34" charset="0"/>
              </a:rPr>
              <a:t>Missing median income: 23 tracts (1.6%) </a:t>
            </a:r>
            <a:r>
              <a:rPr lang="sr-Latn-RS" sz="700" b="1" dirty="0">
                <a:latin typeface="Helvetica" panose="020B0604020202020204" pitchFamily="34" charset="0"/>
                <a:cs typeface="Helvetica" panose="020B0604020202020204" pitchFamily="34" charset="0"/>
              </a:rPr>
              <a:t>Very small tracts where income data was supressed for privacy-not enough households to report without identifying people</a:t>
            </a:r>
          </a:p>
          <a:p>
            <a:pPr marL="228600" indent="-228600">
              <a:buAutoNum type="arabicPeriod"/>
            </a:pPr>
            <a:endParaRPr lang="sr-Latn-RS" sz="700" b="1" dirty="0">
              <a:solidFill>
                <a:srgbClr val="C00000"/>
              </a:solidFill>
              <a:latin typeface="Helvetica" panose="020B0604020202020204" pitchFamily="34" charset="0"/>
              <a:cs typeface="Helvetica" panose="020B0604020202020204" pitchFamily="34" charset="0"/>
            </a:endParaRPr>
          </a:p>
          <a:p>
            <a:pPr marL="228600" indent="-228600">
              <a:buAutoNum type="arabicPeriod"/>
            </a:pPr>
            <a:endParaRPr lang="sr-Latn-RS" sz="700" b="1" dirty="0" smtClean="0">
              <a:solidFill>
                <a:srgbClr val="C00000"/>
              </a:solidFill>
              <a:latin typeface="Helvetica" panose="020B0604020202020204" pitchFamily="34" charset="0"/>
              <a:cs typeface="Helvetica" panose="020B0604020202020204" pitchFamily="34" charset="0"/>
            </a:endParaRPr>
          </a:p>
          <a:p>
            <a:endParaRPr lang="sr-Latn-RS" sz="700" dirty="0" smtClean="0">
              <a:solidFill>
                <a:srgbClr val="C00000"/>
              </a:solidFill>
              <a:latin typeface="Helvetica" panose="020B0604020202020204" pitchFamily="34" charset="0"/>
              <a:cs typeface="Helvetica" panose="020B0604020202020204" pitchFamily="34" charset="0"/>
            </a:endParaRPr>
          </a:p>
          <a:p>
            <a:endParaRPr lang="sr-Latn-RS" sz="700" b="1" dirty="0">
              <a:solidFill>
                <a:srgbClr val="C00000"/>
              </a:solidFill>
              <a:latin typeface="Helvetica" panose="020B0604020202020204" pitchFamily="34" charset="0"/>
              <a:cs typeface="Helvetica" panose="020B0604020202020204" pitchFamily="34" charset="0"/>
            </a:endParaRPr>
          </a:p>
        </p:txBody>
      </p:sp>
      <p:pic>
        <p:nvPicPr>
          <p:cNvPr id="19" name="Picture 18"/>
          <p:cNvPicPr>
            <a:picLocks noChangeAspect="1"/>
          </p:cNvPicPr>
          <p:nvPr/>
        </p:nvPicPr>
        <p:blipFill rotWithShape="1">
          <a:blip r:embed="rId3"/>
          <a:srcRect l="51000" t="35963" r="14133" b="27593"/>
          <a:stretch/>
        </p:blipFill>
        <p:spPr>
          <a:xfrm>
            <a:off x="151683" y="1456628"/>
            <a:ext cx="4298465" cy="2527317"/>
          </a:xfrm>
          <a:prstGeom prst="rect">
            <a:avLst/>
          </a:prstGeom>
        </p:spPr>
      </p:pic>
      <p:sp>
        <p:nvSpPr>
          <p:cNvPr id="25" name="Rectangle 24"/>
          <p:cNvSpPr/>
          <p:nvPr/>
        </p:nvSpPr>
        <p:spPr>
          <a:xfrm>
            <a:off x="1592580" y="1798320"/>
            <a:ext cx="1036320" cy="4081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32197540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5" name="Text 3"/>
          <p:cNvSpPr/>
          <p:nvPr/>
        </p:nvSpPr>
        <p:spPr>
          <a:xfrm>
            <a:off x="457200" y="1197864"/>
            <a:ext cx="502920" cy="384048"/>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sp>
        <p:nvSpPr>
          <p:cNvPr id="26" name="Rectangle 25"/>
          <p:cNvSpPr/>
          <p:nvPr/>
        </p:nvSpPr>
        <p:spPr>
          <a:xfrm>
            <a:off x="239268" y="102314"/>
            <a:ext cx="4554452" cy="615553"/>
          </a:xfrm>
          <a:prstGeom prst="rect">
            <a:avLst/>
          </a:prstGeom>
        </p:spPr>
        <p:txBody>
          <a:bodyPr wrap="none">
            <a:spAutoFit/>
          </a:bodyPr>
          <a:lstStyle/>
          <a:p>
            <a:r>
              <a:rPr lang="en-US" sz="3400" b="1" dirty="0">
                <a:solidFill>
                  <a:srgbClr val="FFFFFF"/>
                </a:solidFill>
                <a:latin typeface="Trebuchet MS" pitchFamily="34" charset="0"/>
                <a:ea typeface="Trebuchet MS" pitchFamily="34" charset="-122"/>
                <a:cs typeface="Trebuchet MS" pitchFamily="34" charset="-120"/>
              </a:rPr>
              <a:t>Step </a:t>
            </a:r>
            <a:r>
              <a:rPr lang="sr-Latn-RS" sz="3400" b="1" dirty="0">
                <a:solidFill>
                  <a:srgbClr val="FFFFFF"/>
                </a:solidFill>
                <a:latin typeface="Trebuchet MS" pitchFamily="34" charset="0"/>
                <a:ea typeface="Trebuchet MS" pitchFamily="34" charset="-122"/>
                <a:cs typeface="Trebuchet MS" pitchFamily="34" charset="-120"/>
              </a:rPr>
              <a:t>3</a:t>
            </a:r>
            <a:r>
              <a:rPr lang="en-US" sz="3400" b="1" dirty="0" smtClean="0">
                <a:solidFill>
                  <a:srgbClr val="FFFFFF"/>
                </a:solidFill>
                <a:latin typeface="Trebuchet MS" pitchFamily="34" charset="0"/>
                <a:ea typeface="Trebuchet MS" pitchFamily="34" charset="-122"/>
                <a:cs typeface="Trebuchet MS" pitchFamily="34" charset="-120"/>
              </a:rPr>
              <a:t>:</a:t>
            </a:r>
            <a:r>
              <a:rPr lang="sr-Latn-RS" sz="3400" b="1" dirty="0" smtClean="0">
                <a:solidFill>
                  <a:srgbClr val="FFFFFF"/>
                </a:solidFill>
                <a:latin typeface="Trebuchet MS" pitchFamily="34" charset="0"/>
                <a:ea typeface="Trebuchet MS" pitchFamily="34" charset="-122"/>
                <a:cs typeface="Trebuchet MS" pitchFamily="34" charset="-120"/>
              </a:rPr>
              <a:t> Data Cleaning</a:t>
            </a:r>
            <a:endParaRPr lang="en-US" sz="3400" b="1" dirty="0">
              <a:solidFill>
                <a:srgbClr val="FFFFFF"/>
              </a:solidFill>
              <a:latin typeface="Trebuchet MS" pitchFamily="34" charset="0"/>
              <a:ea typeface="Trebuchet MS" pitchFamily="34" charset="-122"/>
              <a:cs typeface="Trebuchet MS" pitchFamily="34" charset="-120"/>
            </a:endParaRPr>
          </a:p>
        </p:txBody>
      </p:sp>
      <p:grpSp>
        <p:nvGrpSpPr>
          <p:cNvPr id="10" name="Group 9"/>
          <p:cNvGrpSpPr/>
          <p:nvPr/>
        </p:nvGrpSpPr>
        <p:grpSpPr>
          <a:xfrm>
            <a:off x="421517" y="954629"/>
            <a:ext cx="8410063" cy="1328086"/>
            <a:chOff x="139054" y="717867"/>
            <a:chExt cx="8119779" cy="1030472"/>
          </a:xfrm>
        </p:grpSpPr>
        <p:pic>
          <p:nvPicPr>
            <p:cNvPr id="4" name="Picture 3"/>
            <p:cNvPicPr>
              <a:picLocks noChangeAspect="1"/>
            </p:cNvPicPr>
            <p:nvPr/>
          </p:nvPicPr>
          <p:blipFill rotWithShape="1">
            <a:blip r:embed="rId3"/>
            <a:srcRect l="52166" t="55815" r="3434" b="34373"/>
            <a:stretch/>
          </p:blipFill>
          <p:spPr>
            <a:xfrm>
              <a:off x="139054" y="717867"/>
              <a:ext cx="8119779" cy="1009371"/>
            </a:xfrm>
            <a:prstGeom prst="rect">
              <a:avLst/>
            </a:prstGeom>
          </p:spPr>
        </p:pic>
        <p:sp>
          <p:nvSpPr>
            <p:cNvPr id="23" name="Rectangle 22"/>
            <p:cNvSpPr/>
            <p:nvPr/>
          </p:nvSpPr>
          <p:spPr>
            <a:xfrm>
              <a:off x="2249794" y="1123188"/>
              <a:ext cx="401966" cy="1493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a:off x="2242174" y="1491265"/>
              <a:ext cx="401966" cy="1493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Rectangle 6"/>
            <p:cNvSpPr/>
            <p:nvPr/>
          </p:nvSpPr>
          <p:spPr>
            <a:xfrm>
              <a:off x="3817620" y="1272540"/>
              <a:ext cx="220980" cy="2187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850826" y="1108912"/>
              <a:ext cx="1378273" cy="215444"/>
            </a:xfrm>
            <a:prstGeom prst="rect">
              <a:avLst/>
            </a:prstGeom>
            <a:noFill/>
          </p:spPr>
          <p:txBody>
            <a:bodyPr wrap="square" rtlCol="0">
              <a:spAutoFit/>
            </a:bodyPr>
            <a:lstStyle/>
            <a:p>
              <a:r>
                <a:rPr lang="sr-Latn-RS" sz="800" b="1" dirty="0" smtClean="0">
                  <a:solidFill>
                    <a:srgbClr val="FF0000"/>
                  </a:solidFill>
                </a:rPr>
                <a:t>Before cleaning</a:t>
              </a:r>
              <a:endParaRPr lang="en-US" sz="800" b="1" dirty="0">
                <a:solidFill>
                  <a:srgbClr val="FF0000"/>
                </a:solidFill>
              </a:endParaRPr>
            </a:p>
          </p:txBody>
        </p:sp>
        <p:sp>
          <p:nvSpPr>
            <p:cNvPr id="33" name="TextBox 32"/>
            <p:cNvSpPr txBox="1"/>
            <p:nvPr/>
          </p:nvSpPr>
          <p:spPr>
            <a:xfrm>
              <a:off x="4490774" y="1225698"/>
              <a:ext cx="1823610" cy="215444"/>
            </a:xfrm>
            <a:prstGeom prst="rect">
              <a:avLst/>
            </a:prstGeom>
            <a:noFill/>
          </p:spPr>
          <p:txBody>
            <a:bodyPr wrap="square" rtlCol="0">
              <a:spAutoFit/>
            </a:bodyPr>
            <a:lstStyle/>
            <a:p>
              <a:r>
                <a:rPr lang="sr-Latn-RS" sz="800" b="1" dirty="0" smtClean="0">
                  <a:solidFill>
                    <a:srgbClr val="FF0000"/>
                  </a:solidFill>
                </a:rPr>
                <a:t>Missing log_rent fillied with BEA</a:t>
              </a:r>
              <a:endParaRPr lang="en-US" sz="800" b="1" dirty="0">
                <a:solidFill>
                  <a:srgbClr val="FF0000"/>
                </a:solidFill>
              </a:endParaRPr>
            </a:p>
          </p:txBody>
        </p:sp>
        <p:sp>
          <p:nvSpPr>
            <p:cNvPr id="35" name="TextBox 34"/>
            <p:cNvSpPr txBox="1"/>
            <p:nvPr/>
          </p:nvSpPr>
          <p:spPr>
            <a:xfrm>
              <a:off x="2850825" y="1532895"/>
              <a:ext cx="1378273" cy="215444"/>
            </a:xfrm>
            <a:prstGeom prst="rect">
              <a:avLst/>
            </a:prstGeom>
            <a:noFill/>
          </p:spPr>
          <p:txBody>
            <a:bodyPr wrap="square" rtlCol="0">
              <a:spAutoFit/>
            </a:bodyPr>
            <a:lstStyle/>
            <a:p>
              <a:r>
                <a:rPr lang="sr-Latn-RS" sz="800" b="1" dirty="0" smtClean="0">
                  <a:solidFill>
                    <a:srgbClr val="FF0000"/>
                  </a:solidFill>
                </a:rPr>
                <a:t>Data after cleaning</a:t>
              </a:r>
              <a:endParaRPr lang="en-US" sz="800" b="1" dirty="0">
                <a:solidFill>
                  <a:srgbClr val="FF0000"/>
                </a:solidFill>
              </a:endParaRPr>
            </a:p>
          </p:txBody>
        </p:sp>
      </p:gr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5396" t="12662" r="51511" b="64307"/>
          <a:stretch/>
        </p:blipFill>
        <p:spPr>
          <a:xfrm>
            <a:off x="421517" y="2559388"/>
            <a:ext cx="8426019" cy="2081890"/>
          </a:xfrm>
          <a:prstGeom prst="rect">
            <a:avLst/>
          </a:prstGeom>
        </p:spPr>
      </p:pic>
      <p:sp>
        <p:nvSpPr>
          <p:cNvPr id="11" name="TextBox 10"/>
          <p:cNvSpPr txBox="1"/>
          <p:nvPr/>
        </p:nvSpPr>
        <p:spPr>
          <a:xfrm>
            <a:off x="357932" y="2326943"/>
            <a:ext cx="1776448" cy="246221"/>
          </a:xfrm>
          <a:prstGeom prst="rect">
            <a:avLst/>
          </a:prstGeom>
          <a:noFill/>
        </p:spPr>
        <p:txBody>
          <a:bodyPr wrap="none" rtlCol="0">
            <a:spAutoFit/>
          </a:bodyPr>
          <a:lstStyle/>
          <a:p>
            <a:r>
              <a:rPr lang="sr-Latn-RS" sz="1000" b="1" dirty="0" smtClean="0">
                <a:solidFill>
                  <a:schemeClr val="bg1"/>
                </a:solidFill>
              </a:rPr>
              <a:t>Finished Dataset (first 5 rows)</a:t>
            </a:r>
            <a:endParaRPr lang="en-US" sz="1000" b="1" dirty="0">
              <a:solidFill>
                <a:schemeClr val="bg1"/>
              </a:solidFill>
            </a:endParaRPr>
          </a:p>
        </p:txBody>
      </p:sp>
    </p:spTree>
    <p:extLst>
      <p:ext uri="{BB962C8B-B14F-4D97-AF65-F5344CB8AC3E}">
        <p14:creationId xmlns:p14="http://schemas.microsoft.com/office/powerpoint/2010/main" val="28342719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85800"/>
          </a:xfrm>
          <a:prstGeom prst="rect">
            <a:avLst/>
          </a:prstGeom>
          <a:noFill/>
          <a:ln/>
        </p:spPr>
        <p:txBody>
          <a:bodyPr wrap="square" lIns="0" tIns="0" rIns="0" bIns="0" rtlCol="0" anchor="ctr"/>
          <a:lstStyle/>
          <a:p>
            <a:pPr marL="0" indent="0" algn="l">
              <a:buNone/>
            </a:pPr>
            <a:r>
              <a:rPr lang="sr-Latn-RS" sz="3400" b="1" dirty="0" smtClean="0">
                <a:solidFill>
                  <a:srgbClr val="FFFFFF"/>
                </a:solidFill>
                <a:latin typeface="Trebuchet MS" pitchFamily="34" charset="0"/>
                <a:ea typeface="Trebuchet MS" pitchFamily="34" charset="-122"/>
                <a:cs typeface="Trebuchet MS" pitchFamily="34" charset="-120"/>
              </a:rPr>
              <a:t>Step 4: Graphs </a:t>
            </a:r>
            <a:endParaRPr lang="en-US" sz="3400" dirty="0"/>
          </a:p>
        </p:txBody>
      </p:sp>
      <p:sp>
        <p:nvSpPr>
          <p:cNvPr id="3" name="Shape 1"/>
          <p:cNvSpPr/>
          <p:nvPr/>
        </p:nvSpPr>
        <p:spPr>
          <a:xfrm>
            <a:off x="457200" y="960120"/>
            <a:ext cx="2286000" cy="36576"/>
          </a:xfrm>
          <a:prstGeom prst="rect">
            <a:avLst/>
          </a:prstGeom>
          <a:solidFill>
            <a:srgbClr val="E8A838"/>
          </a:solidFill>
          <a:ln w="12700">
            <a:solidFill>
              <a:srgbClr val="E8A838"/>
            </a:solidFill>
            <a:prstDash val="solid"/>
          </a:ln>
        </p:spPr>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586" y="1042416"/>
            <a:ext cx="7225670" cy="2638148"/>
          </a:xfrm>
          <a:prstGeom prst="rect">
            <a:avLst/>
          </a:prstGeom>
        </p:spPr>
      </p:pic>
      <p:sp>
        <p:nvSpPr>
          <p:cNvPr id="35" name="Rectangle 34"/>
          <p:cNvSpPr/>
          <p:nvPr/>
        </p:nvSpPr>
        <p:spPr>
          <a:xfrm>
            <a:off x="795586" y="3796317"/>
            <a:ext cx="3782510" cy="12405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800" dirty="0">
              <a:solidFill>
                <a:schemeClr val="tx1"/>
              </a:solidFill>
            </a:endParaRPr>
          </a:p>
        </p:txBody>
      </p:sp>
      <p:sp>
        <p:nvSpPr>
          <p:cNvPr id="37" name="TextBox 36">
            <a:extLst>
              <a:ext uri="{FF2B5EF4-FFF2-40B4-BE49-F238E27FC236}">
                <a16:creationId xmlns:a16="http://schemas.microsoft.com/office/drawing/2014/main" id="{A70C9E7A-A3E1-476A-9E50-368AF02593E8}"/>
              </a:ext>
            </a:extLst>
          </p:cNvPr>
          <p:cNvSpPr txBox="1"/>
          <p:nvPr/>
        </p:nvSpPr>
        <p:spPr>
          <a:xfrm>
            <a:off x="795586" y="3823645"/>
            <a:ext cx="3677354" cy="1169551"/>
          </a:xfrm>
          <a:prstGeom prst="rect">
            <a:avLst/>
          </a:prstGeom>
          <a:noFill/>
        </p:spPr>
        <p:txBody>
          <a:bodyPr wrap="square" rtlCol="0">
            <a:spAutoFit/>
          </a:bodyPr>
          <a:lstStyle/>
          <a:p>
            <a:r>
              <a:rPr lang="sr-Latn-RS" sz="700" b="1" dirty="0" smtClean="0">
                <a:latin typeface="Helvetica" panose="020B0604020202020204" pitchFamily="34" charset="0"/>
                <a:cs typeface="Helvetica" panose="020B0604020202020204" pitchFamily="34" charset="0"/>
              </a:rPr>
              <a:t>Graph 1- Distribution of Median Rent by Tract</a:t>
            </a:r>
          </a:p>
          <a:p>
            <a:endParaRPr lang="sr-Latn-RS" sz="700" dirty="0">
              <a:latin typeface="Helvetica" panose="020B0604020202020204" pitchFamily="34" charset="0"/>
              <a:cs typeface="Helvetica" panose="020B0604020202020204" pitchFamily="34" charset="0"/>
            </a:endParaRP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Shows how median rent is spread across all 1478 tracts</a:t>
            </a: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Distribution is right-skewed&gt; most tracts cluster around $1,000-$1,500, but the tail goes to $3,000, meaning there are a few expensive tracts that pull the distribution</a:t>
            </a:r>
          </a:p>
          <a:p>
            <a:pPr marL="171450" indent="-171450">
              <a:buFont typeface="Arial" panose="020B0604020202020204" pitchFamily="34" charset="0"/>
              <a:buChar char="•"/>
            </a:pPr>
            <a:r>
              <a:rPr lang="sr-Latn-RS" sz="700" b="1" dirty="0" smtClean="0">
                <a:solidFill>
                  <a:srgbClr val="FF0000"/>
                </a:solidFill>
                <a:latin typeface="Helvetica" panose="020B0604020202020204" pitchFamily="34" charset="0"/>
                <a:cs typeface="Helvetica" panose="020B0604020202020204" pitchFamily="34" charset="0"/>
              </a:rPr>
              <a:t>Red dashed line</a:t>
            </a:r>
            <a:r>
              <a:rPr lang="sr-Latn-RS" sz="700" b="1" dirty="0" smtClean="0">
                <a:latin typeface="Helvetica" panose="020B0604020202020204" pitchFamily="34" charset="0"/>
                <a:cs typeface="Helvetica" panose="020B0604020202020204" pitchFamily="34" charset="0"/>
              </a:rPr>
              <a:t>= </a:t>
            </a:r>
            <a:r>
              <a:rPr lang="sr-Latn-RS" sz="700" dirty="0" smtClean="0">
                <a:latin typeface="Helvetica" panose="020B0604020202020204" pitchFamily="34" charset="0"/>
                <a:cs typeface="Helvetica" panose="020B0604020202020204" pitchFamily="34" charset="0"/>
              </a:rPr>
              <a:t>overall median $1,223- half rent below this half above</a:t>
            </a:r>
          </a:p>
          <a:p>
            <a:pPr marL="171450" indent="-171450">
              <a:buFont typeface="Arial" panose="020B0604020202020204" pitchFamily="34" charset="0"/>
              <a:buChar char="•"/>
            </a:pPr>
            <a:r>
              <a:rPr lang="sr-Latn-RS" sz="700" b="1" dirty="0" smtClean="0">
                <a:solidFill>
                  <a:schemeClr val="accent1">
                    <a:lumMod val="50000"/>
                  </a:schemeClr>
                </a:solidFill>
                <a:latin typeface="Helvetica" panose="020B0604020202020204" pitchFamily="34" charset="0"/>
                <a:cs typeface="Helvetica" panose="020B0604020202020204" pitchFamily="34" charset="0"/>
              </a:rPr>
              <a:t>Blue dashed</a:t>
            </a:r>
            <a:r>
              <a:rPr lang="sr-Latn-RS" sz="700" dirty="0" smtClean="0">
                <a:latin typeface="Helvetica" panose="020B0604020202020204" pitchFamily="34" charset="0"/>
                <a:cs typeface="Helvetica" panose="020B0604020202020204" pitchFamily="34" charset="0"/>
              </a:rPr>
              <a:t>-Low density averagen (single fam, less multifam) $1,355-tracts with below median missing middle housing actually have </a:t>
            </a:r>
            <a:r>
              <a:rPr lang="sr-Latn-RS" sz="700" b="1" dirty="0" smtClean="0">
                <a:latin typeface="Helvetica" panose="020B0604020202020204" pitchFamily="34" charset="0"/>
                <a:cs typeface="Helvetica" panose="020B0604020202020204" pitchFamily="34" charset="0"/>
              </a:rPr>
              <a:t>HIGHER</a:t>
            </a:r>
            <a:r>
              <a:rPr lang="sr-Latn-RS" sz="700" dirty="0" smtClean="0">
                <a:latin typeface="Helvetica" panose="020B0604020202020204" pitchFamily="34" charset="0"/>
                <a:cs typeface="Helvetica" panose="020B0604020202020204" pitchFamily="34" charset="0"/>
              </a:rPr>
              <a:t> AVERAGE RENT</a:t>
            </a:r>
          </a:p>
          <a:p>
            <a:pPr marL="171450" indent="-171450">
              <a:buFont typeface="Arial" panose="020B0604020202020204" pitchFamily="34" charset="0"/>
              <a:buChar char="•"/>
            </a:pPr>
            <a:r>
              <a:rPr lang="sr-Latn-RS" sz="700" b="1" dirty="0" smtClean="0">
                <a:solidFill>
                  <a:srgbClr val="7030A0"/>
                </a:solidFill>
                <a:latin typeface="Helvetica" panose="020B0604020202020204" pitchFamily="34" charset="0"/>
                <a:cs typeface="Helvetica" panose="020B0604020202020204" pitchFamily="34" charset="0"/>
              </a:rPr>
              <a:t>Purple dash line</a:t>
            </a:r>
            <a:r>
              <a:rPr lang="sr-Latn-RS" sz="700" dirty="0" smtClean="0">
                <a:latin typeface="Helvetica" panose="020B0604020202020204" pitchFamily="34" charset="0"/>
                <a:cs typeface="Helvetica" panose="020B0604020202020204" pitchFamily="34" charset="0"/>
              </a:rPr>
              <a:t>-high density average $1261-above median missing housing have </a:t>
            </a:r>
            <a:r>
              <a:rPr lang="sr-Latn-RS" sz="700" b="1" dirty="0" smtClean="0">
                <a:latin typeface="Helvetica" panose="020B0604020202020204" pitchFamily="34" charset="0"/>
                <a:cs typeface="Helvetica" panose="020B0604020202020204" pitchFamily="34" charset="0"/>
              </a:rPr>
              <a:t>LOWER</a:t>
            </a:r>
            <a:r>
              <a:rPr lang="sr-Latn-RS" sz="700" dirty="0" smtClean="0">
                <a:latin typeface="Helvetica" panose="020B0604020202020204" pitchFamily="34" charset="0"/>
                <a:cs typeface="Helvetica" panose="020B0604020202020204" pitchFamily="34" charset="0"/>
              </a:rPr>
              <a:t> AVERAGE RENT</a:t>
            </a:r>
          </a:p>
        </p:txBody>
      </p:sp>
      <p:sp>
        <p:nvSpPr>
          <p:cNvPr id="38" name="Rectangle 37"/>
          <p:cNvSpPr/>
          <p:nvPr/>
        </p:nvSpPr>
        <p:spPr>
          <a:xfrm>
            <a:off x="4578096" y="3796316"/>
            <a:ext cx="3443160" cy="12405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800" dirty="0">
              <a:solidFill>
                <a:schemeClr val="tx1"/>
              </a:solidFill>
            </a:endParaRPr>
          </a:p>
        </p:txBody>
      </p:sp>
      <p:sp>
        <p:nvSpPr>
          <p:cNvPr id="40" name="TextBox 39">
            <a:extLst>
              <a:ext uri="{FF2B5EF4-FFF2-40B4-BE49-F238E27FC236}">
                <a16:creationId xmlns:a16="http://schemas.microsoft.com/office/drawing/2014/main" id="{A70C9E7A-A3E1-476A-9E50-368AF02593E8}"/>
              </a:ext>
            </a:extLst>
          </p:cNvPr>
          <p:cNvSpPr txBox="1"/>
          <p:nvPr/>
        </p:nvSpPr>
        <p:spPr>
          <a:xfrm>
            <a:off x="4472940" y="3822192"/>
            <a:ext cx="3548316" cy="1277273"/>
          </a:xfrm>
          <a:prstGeom prst="rect">
            <a:avLst/>
          </a:prstGeom>
          <a:noFill/>
        </p:spPr>
        <p:txBody>
          <a:bodyPr wrap="square" rtlCol="0">
            <a:spAutoFit/>
          </a:bodyPr>
          <a:lstStyle/>
          <a:p>
            <a:r>
              <a:rPr lang="sr-Latn-RS" sz="700" b="1" dirty="0" smtClean="0">
                <a:latin typeface="Helvetica" panose="020B0604020202020204" pitchFamily="34" charset="0"/>
                <a:cs typeface="Helvetica" panose="020B0604020202020204" pitchFamily="34" charset="0"/>
              </a:rPr>
              <a:t>Graph 2- Multifamily Housing Share by Zoning Type</a:t>
            </a:r>
          </a:p>
          <a:p>
            <a:endParaRPr lang="sr-Latn-RS" sz="700" dirty="0">
              <a:latin typeface="Helvetica" panose="020B0604020202020204" pitchFamily="34" charset="0"/>
              <a:cs typeface="Helvetica" panose="020B0604020202020204" pitchFamily="34" charset="0"/>
            </a:endParaRP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Overlapping histogram comparing how much multifamily housing exists in low vs high density tracts</a:t>
            </a: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Blue = low density tract- heavily concentrated at 0-0.2 shows that most of their housing is single-family </a:t>
            </a: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Red/pink = high density tracts-spread further toward 0.8-1.0, most of the housing is multifamily</a:t>
            </a: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Overlap: some tracts are mixed</a:t>
            </a:r>
          </a:p>
          <a:p>
            <a:pPr marL="171450" indent="-171450">
              <a:buFont typeface="Arial" panose="020B0604020202020204" pitchFamily="34" charset="0"/>
              <a:buChar char="•"/>
            </a:pPr>
            <a:r>
              <a:rPr lang="sr-Latn-RS" sz="700" dirty="0" smtClean="0">
                <a:latin typeface="Helvetica" panose="020B0604020202020204" pitchFamily="34" charset="0"/>
                <a:cs typeface="Helvetica" panose="020B0604020202020204" pitchFamily="34" charset="0"/>
              </a:rPr>
              <a:t>V</a:t>
            </a:r>
            <a:r>
              <a:rPr lang="en-US" sz="700" dirty="0" err="1" smtClean="0">
                <a:latin typeface="Helvetica" panose="020B0604020202020204" pitchFamily="34" charset="0"/>
                <a:cs typeface="Helvetica" panose="020B0604020202020204" pitchFamily="34" charset="0"/>
              </a:rPr>
              <a:t>alidates</a:t>
            </a:r>
            <a:r>
              <a:rPr lang="en-US" sz="700" dirty="0" smtClean="0">
                <a:latin typeface="Helvetica" panose="020B0604020202020204" pitchFamily="34" charset="0"/>
                <a:cs typeface="Helvetica" panose="020B0604020202020204" pitchFamily="34" charset="0"/>
              </a:rPr>
              <a:t> treatment </a:t>
            </a:r>
            <a:r>
              <a:rPr lang="en-US" sz="700" dirty="0">
                <a:latin typeface="Helvetica" panose="020B0604020202020204" pitchFamily="34" charset="0"/>
                <a:cs typeface="Helvetica" panose="020B0604020202020204" pitchFamily="34" charset="0"/>
              </a:rPr>
              <a:t>variable </a:t>
            </a:r>
            <a:r>
              <a:rPr lang="sr-Latn-RS" sz="700" dirty="0" smtClean="0">
                <a:latin typeface="Helvetica" panose="020B0604020202020204" pitchFamily="34" charset="0"/>
                <a:cs typeface="Helvetica" panose="020B0604020202020204" pitchFamily="34" charset="0"/>
              </a:rPr>
              <a:t>-</a:t>
            </a:r>
            <a:r>
              <a:rPr lang="en-US" sz="700" dirty="0" smtClean="0">
                <a:latin typeface="Helvetica" panose="020B0604020202020204" pitchFamily="34" charset="0"/>
                <a:cs typeface="Helvetica" panose="020B0604020202020204" pitchFamily="34" charset="0"/>
              </a:rPr>
              <a:t> </a:t>
            </a:r>
            <a:r>
              <a:rPr lang="en-US" sz="700" dirty="0">
                <a:latin typeface="Helvetica" panose="020B0604020202020204" pitchFamily="34" charset="0"/>
                <a:cs typeface="Helvetica" panose="020B0604020202020204" pitchFamily="34" charset="0"/>
              </a:rPr>
              <a:t>it confirms that </a:t>
            </a:r>
            <a:r>
              <a:rPr lang="en-US" sz="700" dirty="0" err="1">
                <a:latin typeface="Helvetica" panose="020B0604020202020204" pitchFamily="34" charset="0"/>
                <a:cs typeface="Helvetica" panose="020B0604020202020204" pitchFamily="34" charset="0"/>
              </a:rPr>
              <a:t>treated_dupac</a:t>
            </a:r>
            <a:r>
              <a:rPr lang="en-US" sz="700" dirty="0">
                <a:latin typeface="Helvetica" panose="020B0604020202020204" pitchFamily="34" charset="0"/>
                <a:cs typeface="Helvetica" panose="020B0604020202020204" pitchFamily="34" charset="0"/>
              </a:rPr>
              <a:t> = 1 actually captures tracts with </a:t>
            </a:r>
            <a:r>
              <a:rPr lang="en-US" sz="700" dirty="0" smtClean="0">
                <a:latin typeface="Helvetica" panose="020B0604020202020204" pitchFamily="34" charset="0"/>
                <a:cs typeface="Helvetica" panose="020B0604020202020204" pitchFamily="34" charset="0"/>
              </a:rPr>
              <a:t>more </a:t>
            </a:r>
            <a:r>
              <a:rPr lang="en-US" sz="700" dirty="0">
                <a:latin typeface="Helvetica" panose="020B0604020202020204" pitchFamily="34" charset="0"/>
                <a:cs typeface="Helvetica" panose="020B0604020202020204" pitchFamily="34" charset="0"/>
              </a:rPr>
              <a:t>multifamily housing, not just random variation. </a:t>
            </a:r>
            <a:endParaRPr lang="sr-Latn-RS" sz="7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814904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85800"/>
          </a:xfrm>
          <a:prstGeom prst="rect">
            <a:avLst/>
          </a:prstGeom>
          <a:noFill/>
          <a:ln/>
        </p:spPr>
        <p:txBody>
          <a:bodyPr wrap="square" lIns="0" tIns="0" rIns="0" bIns="0" rtlCol="0" anchor="ctr"/>
          <a:lstStyle/>
          <a:p>
            <a:pPr marL="0" indent="0" algn="l">
              <a:buNone/>
            </a:pPr>
            <a:r>
              <a:rPr lang="sr-Latn-RS" sz="3400" b="1" dirty="0" smtClean="0">
                <a:solidFill>
                  <a:srgbClr val="FFFFFF"/>
                </a:solidFill>
                <a:latin typeface="Trebuchet MS" pitchFamily="34" charset="0"/>
                <a:ea typeface="Trebuchet MS" pitchFamily="34" charset="-122"/>
                <a:cs typeface="Trebuchet MS" pitchFamily="34" charset="-120"/>
              </a:rPr>
              <a:t>Step 5: Stargazer table </a:t>
            </a:r>
            <a:endParaRPr lang="en-US" sz="3400" dirty="0"/>
          </a:p>
        </p:txBody>
      </p:sp>
      <p:sp>
        <p:nvSpPr>
          <p:cNvPr id="3" name="Shape 1"/>
          <p:cNvSpPr/>
          <p:nvPr/>
        </p:nvSpPr>
        <p:spPr>
          <a:xfrm>
            <a:off x="457200" y="960120"/>
            <a:ext cx="2286000" cy="36576"/>
          </a:xfrm>
          <a:prstGeom prst="rect">
            <a:avLst/>
          </a:prstGeom>
          <a:solidFill>
            <a:srgbClr val="E8A838"/>
          </a:solidFill>
          <a:ln w="12700">
            <a:solidFill>
              <a:srgbClr val="E8A838"/>
            </a:solidFill>
            <a:prstDash val="solid"/>
          </a:ln>
        </p:spPr>
      </p:sp>
      <p:sp>
        <p:nvSpPr>
          <p:cNvPr id="9" name="Text 7"/>
          <p:cNvSpPr/>
          <p:nvPr/>
        </p:nvSpPr>
        <p:spPr>
          <a:xfrm>
            <a:off x="457200" y="1947672"/>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457200" y="2697480"/>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457200" y="3447288"/>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4</a:t>
            </a:r>
            <a:endParaRPr lang="en-US" sz="1800" dirty="0"/>
          </a:p>
        </p:txBody>
      </p:sp>
      <p:sp>
        <p:nvSpPr>
          <p:cNvPr id="21" name="Text 19"/>
          <p:cNvSpPr/>
          <p:nvPr/>
        </p:nvSpPr>
        <p:spPr>
          <a:xfrm>
            <a:off x="457200" y="4197096"/>
            <a:ext cx="502920" cy="384048"/>
          </a:xfrm>
          <a:prstGeom prst="rect">
            <a:avLst/>
          </a:prstGeom>
          <a:noFill/>
          <a:ln/>
        </p:spPr>
        <p:txBody>
          <a:bodyPr wrap="square" lIns="0" tIns="0" rIns="0" bIns="0" rtlCol="0" anchor="ctr"/>
          <a:lstStyle/>
          <a:p>
            <a:pPr marL="0" indent="0" algn="ctr">
              <a:buNone/>
            </a:pPr>
            <a:r>
              <a:rPr lang="en-US" sz="1800" b="1" dirty="0">
                <a:solidFill>
                  <a:srgbClr val="1B3A6B"/>
                </a:solidFill>
                <a:latin typeface="Trebuchet MS" pitchFamily="34" charset="0"/>
                <a:ea typeface="Trebuchet MS" pitchFamily="34" charset="-122"/>
                <a:cs typeface="Trebuchet MS" pitchFamily="34" charset="-120"/>
              </a:rPr>
              <a:t>5</a:t>
            </a:r>
            <a:endParaRPr lang="en-US" sz="1800" dirty="0"/>
          </a:p>
        </p:txBody>
      </p:sp>
      <p:pic>
        <p:nvPicPr>
          <p:cNvPr id="4" name="Picture 3"/>
          <p:cNvPicPr>
            <a:picLocks noChangeAspect="1"/>
          </p:cNvPicPr>
          <p:nvPr/>
        </p:nvPicPr>
        <p:blipFill rotWithShape="1">
          <a:blip r:embed="rId3"/>
          <a:srcRect l="24667" t="19371" r="24167" b="29370"/>
          <a:stretch/>
        </p:blipFill>
        <p:spPr>
          <a:xfrm>
            <a:off x="1305003" y="1092191"/>
            <a:ext cx="5697382" cy="3210577"/>
          </a:xfrm>
          <a:prstGeom prst="rect">
            <a:avLst/>
          </a:prstGeom>
        </p:spPr>
      </p:pic>
      <p:sp>
        <p:nvSpPr>
          <p:cNvPr id="14" name="Rectangle 13"/>
          <p:cNvSpPr/>
          <p:nvPr/>
        </p:nvSpPr>
        <p:spPr>
          <a:xfrm>
            <a:off x="3024052" y="1765557"/>
            <a:ext cx="671647" cy="1089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3791712" y="1772151"/>
            <a:ext cx="643128" cy="102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5227320" y="1772151"/>
            <a:ext cx="662479" cy="102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A70C9E7A-A3E1-476A-9E50-368AF02593E8}"/>
              </a:ext>
            </a:extLst>
          </p:cNvPr>
          <p:cNvSpPr txBox="1"/>
          <p:nvPr/>
        </p:nvSpPr>
        <p:spPr>
          <a:xfrm>
            <a:off x="7150609" y="1024995"/>
            <a:ext cx="1908190" cy="1815882"/>
          </a:xfrm>
          <a:prstGeom prst="rect">
            <a:avLst/>
          </a:prstGeom>
          <a:solidFill>
            <a:schemeClr val="bg1"/>
          </a:solidFill>
        </p:spPr>
        <p:txBody>
          <a:bodyPr wrap="square" rtlCol="0">
            <a:spAutoFit/>
          </a:bodyPr>
          <a:lstStyle/>
          <a:p>
            <a:pPr marL="171450" indent="-171450">
              <a:buFont typeface="Arial" panose="020B0604020202020204" pitchFamily="34" charset="0"/>
              <a:buChar char="•"/>
            </a:pPr>
            <a:r>
              <a:rPr lang="en-US" sz="700" b="1" dirty="0" smtClean="0">
                <a:latin typeface="Helvetica" panose="020B0604020202020204" pitchFamily="34" charset="0"/>
                <a:cs typeface="Helvetica" panose="020B0604020202020204" pitchFamily="34" charset="0"/>
              </a:rPr>
              <a:t>Column 1</a:t>
            </a:r>
            <a:r>
              <a:rPr lang="sr-Latn-RS" sz="700" b="1" dirty="0" smtClean="0">
                <a:latin typeface="Helvetica" panose="020B0604020202020204" pitchFamily="34" charset="0"/>
                <a:cs typeface="Helvetica" panose="020B0604020202020204" pitchFamily="34" charset="0"/>
              </a:rPr>
              <a:t> </a:t>
            </a:r>
            <a:r>
              <a:rPr lang="en-US" sz="700" dirty="0" smtClean="0">
                <a:latin typeface="Helvetica" panose="020B0604020202020204" pitchFamily="34" charset="0"/>
                <a:cs typeface="Helvetica" panose="020B0604020202020204" pitchFamily="34" charset="0"/>
              </a:rPr>
              <a:t>Log Rent: -0.032*Tracts with permissive zoning have rent that is 3.2% lower than low density tracts, holding income and renter share constant. The * means statistically significant at p&lt;0.1.</a:t>
            </a:r>
            <a:endParaRPr lang="sr-Latn-RS" sz="700" dirty="0" smtClean="0">
              <a:latin typeface="Helvetica" panose="020B0604020202020204" pitchFamily="34" charset="0"/>
              <a:cs typeface="Helvetica" panose="020B0604020202020204" pitchFamily="34" charset="0"/>
            </a:endParaRPr>
          </a:p>
          <a:p>
            <a:pPr marL="171450" indent="-171450">
              <a:buFont typeface="Arial" panose="020B0604020202020204" pitchFamily="34" charset="0"/>
              <a:buChar char="•"/>
            </a:pPr>
            <a:r>
              <a:rPr lang="en-US" sz="700" b="1" dirty="0" smtClean="0">
                <a:latin typeface="Helvetica" panose="020B0604020202020204" pitchFamily="34" charset="0"/>
                <a:cs typeface="Helvetica" panose="020B0604020202020204" pitchFamily="34" charset="0"/>
              </a:rPr>
              <a:t>Column 2 </a:t>
            </a:r>
            <a:r>
              <a:rPr lang="en-US" sz="700" dirty="0" smtClean="0">
                <a:latin typeface="Helvetica" panose="020B0604020202020204" pitchFamily="34" charset="0"/>
                <a:cs typeface="Helvetica" panose="020B0604020202020204" pitchFamily="34" charset="0"/>
              </a:rPr>
              <a:t>— Log House Price: -0.097***Tracts with permissive zoning have home values that are 9.7% lower. Three stars *** means very highly statistically significant at p&lt;0.01 </a:t>
            </a:r>
            <a:endParaRPr lang="sr-Latn-RS" sz="700" dirty="0" smtClean="0">
              <a:latin typeface="Helvetica" panose="020B0604020202020204" pitchFamily="34" charset="0"/>
              <a:cs typeface="Helvetica" panose="020B0604020202020204" pitchFamily="34" charset="0"/>
            </a:endParaRPr>
          </a:p>
          <a:p>
            <a:pPr marL="171450" indent="-171450">
              <a:buFont typeface="Arial" panose="020B0604020202020204" pitchFamily="34" charset="0"/>
              <a:buChar char="•"/>
            </a:pPr>
            <a:r>
              <a:rPr lang="en-US" sz="700" b="1" dirty="0" smtClean="0">
                <a:latin typeface="Helvetica" panose="020B0604020202020204" pitchFamily="34" charset="0"/>
                <a:cs typeface="Helvetica" panose="020B0604020202020204" pitchFamily="34" charset="0"/>
              </a:rPr>
              <a:t>Column 3 </a:t>
            </a:r>
            <a:r>
              <a:rPr lang="en-US" sz="700" dirty="0" smtClean="0">
                <a:latin typeface="Helvetica" panose="020B0604020202020204" pitchFamily="34" charset="0"/>
                <a:cs typeface="Helvetica" panose="020B0604020202020204" pitchFamily="34" charset="0"/>
              </a:rPr>
              <a:t>— Multifamily Share: 0.301***Tracts with permissive zoning have a 30.1 percentage point higher multifamily share. Three stars again — very significant.</a:t>
            </a:r>
            <a:endParaRPr lang="sr-Latn-RS" sz="700" dirty="0">
              <a:latin typeface="Helvetica" panose="020B0604020202020204" pitchFamily="34" charset="0"/>
              <a:cs typeface="Helvetica" panose="020B0604020202020204" pitchFamily="34" charset="0"/>
            </a:endParaRPr>
          </a:p>
        </p:txBody>
      </p:sp>
      <p:cxnSp>
        <p:nvCxnSpPr>
          <p:cNvPr id="20" name="Straight Arrow Connector 19">
            <a:extLst>
              <a:ext uri="{FF2B5EF4-FFF2-40B4-BE49-F238E27FC236}">
                <a16:creationId xmlns:a16="http://schemas.microsoft.com/office/drawing/2014/main" id="{F36E2AD0-1600-4200-B3C5-4B2058F58AF1}"/>
              </a:ext>
            </a:extLst>
          </p:cNvPr>
          <p:cNvCxnSpPr>
            <a:cxnSpLocks/>
          </p:cNvCxnSpPr>
          <p:nvPr/>
        </p:nvCxnSpPr>
        <p:spPr>
          <a:xfrm flipH="1">
            <a:off x="6141720" y="3389376"/>
            <a:ext cx="1008890" cy="321564"/>
          </a:xfrm>
          <a:prstGeom prst="straightConnector1">
            <a:avLst/>
          </a:prstGeom>
          <a:ln w="38100">
            <a:solidFill>
              <a:srgbClr val="CB2414"/>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254382" y="3081528"/>
            <a:ext cx="1749409" cy="4482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smtClean="0">
                <a:solidFill>
                  <a:schemeClr val="tx1"/>
                </a:solidFill>
              </a:rPr>
              <a:t>R² values — 0.441, 0.601, 0.655 — models explain 44%, 60%, and 65% of the variation in rent, home value, and multifamily share. </a:t>
            </a:r>
            <a:endParaRPr lang="en-US" sz="500" dirty="0">
              <a:solidFill>
                <a:schemeClr val="tx1"/>
              </a:solidFill>
            </a:endParaRPr>
          </a:p>
        </p:txBody>
      </p:sp>
      <p:sp>
        <p:nvSpPr>
          <p:cNvPr id="10" name="Rectangle 9"/>
          <p:cNvSpPr/>
          <p:nvPr/>
        </p:nvSpPr>
        <p:spPr>
          <a:xfrm>
            <a:off x="1223783" y="4349496"/>
            <a:ext cx="5926826" cy="630942"/>
          </a:xfrm>
          <a:prstGeom prst="rect">
            <a:avLst/>
          </a:prstGeom>
          <a:solidFill>
            <a:schemeClr val="bg1"/>
          </a:solidFill>
        </p:spPr>
        <p:txBody>
          <a:bodyPr wrap="square">
            <a:spAutoFit/>
          </a:bodyPr>
          <a:lstStyle/>
          <a:p>
            <a:r>
              <a:rPr lang="sr-Latn-RS" sz="700" dirty="0" smtClean="0"/>
              <a:t>Summary: </a:t>
            </a:r>
            <a:r>
              <a:rPr lang="en-US" sz="700" dirty="0" smtClean="0"/>
              <a:t>All three tests show the same thing</a:t>
            </a:r>
            <a:r>
              <a:rPr lang="sr-Latn-RS" sz="700" dirty="0" smtClean="0"/>
              <a:t>: </a:t>
            </a:r>
            <a:r>
              <a:rPr lang="en-US" sz="700" dirty="0" smtClean="0"/>
              <a:t>neighborhoods that allow more types of housing (permissive zoning = allowing duplexes and small apartments, not just single family homes) tend to have lower rents, lower home prices, and more multifamily buildings. All three findings are statistically significant meaning they are not due to chance. The biggest effect is on home values </a:t>
            </a:r>
            <a:r>
              <a:rPr lang="sr-Latn-RS" sz="700" dirty="0" smtClean="0"/>
              <a:t>&gt; </a:t>
            </a:r>
            <a:r>
              <a:rPr lang="en-US" sz="700" dirty="0" smtClean="0"/>
              <a:t>neighborhoods with more duplexes and small apartments have home values almost 10%</a:t>
            </a:r>
            <a:r>
              <a:rPr lang="sr-Latn-RS" sz="700" dirty="0" smtClean="0"/>
              <a:t> (-0.097)</a:t>
            </a:r>
            <a:r>
              <a:rPr lang="en-US" sz="700" dirty="0" smtClean="0"/>
              <a:t> lower than similar neighborhoods that only allow </a:t>
            </a:r>
            <a:r>
              <a:rPr lang="sr-Latn-RS" sz="700" dirty="0" smtClean="0"/>
              <a:t>single-family</a:t>
            </a:r>
            <a:r>
              <a:rPr lang="en-US" sz="700" dirty="0" smtClean="0"/>
              <a:t> homes</a:t>
            </a:r>
            <a:r>
              <a:rPr lang="sr-Latn-RS" sz="700" dirty="0" smtClean="0"/>
              <a:t>. </a:t>
            </a:r>
            <a:r>
              <a:rPr lang="sr-Latn-RS" sz="700" b="1" dirty="0" smtClean="0"/>
              <a:t>Rent is lower </a:t>
            </a:r>
            <a:r>
              <a:rPr lang="sr-Latn-RS" sz="700" dirty="0" smtClean="0"/>
              <a:t>because supply is higher due to allowing more types of housing (dupley, triplex, small apartments). </a:t>
            </a:r>
            <a:r>
              <a:rPr lang="sr-Latn-RS" sz="700" b="1" dirty="0" smtClean="0"/>
              <a:t>Multifamily share is higher</a:t>
            </a:r>
            <a:r>
              <a:rPr lang="sr-Latn-RS" sz="700" dirty="0" smtClean="0"/>
              <a:t> by 30.1% because permissive zoning allows more multifamily buildings to be built</a:t>
            </a:r>
            <a:endParaRPr lang="en-US" sz="700" dirty="0"/>
          </a:p>
        </p:txBody>
      </p:sp>
    </p:spTree>
    <p:extLst>
      <p:ext uri="{BB962C8B-B14F-4D97-AF65-F5344CB8AC3E}">
        <p14:creationId xmlns:p14="http://schemas.microsoft.com/office/powerpoint/2010/main" val="31565635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Key Findings</a:t>
            </a:r>
            <a:endParaRPr lang="en-US" sz="3400" dirty="0"/>
          </a:p>
        </p:txBody>
      </p:sp>
      <p:sp>
        <p:nvSpPr>
          <p:cNvPr id="3" name="Shape 1"/>
          <p:cNvSpPr/>
          <p:nvPr/>
        </p:nvSpPr>
        <p:spPr>
          <a:xfrm>
            <a:off x="457200" y="960120"/>
            <a:ext cx="2286000" cy="36576"/>
          </a:xfrm>
          <a:prstGeom prst="rect">
            <a:avLst/>
          </a:prstGeom>
          <a:solidFill>
            <a:srgbClr val="E8A838"/>
          </a:solidFill>
          <a:ln w="12700">
            <a:solidFill>
              <a:srgbClr val="E8A838"/>
            </a:solidFill>
            <a:prstDash val="solid"/>
          </a:ln>
        </p:spPr>
      </p:sp>
      <p:sp>
        <p:nvSpPr>
          <p:cNvPr id="4" name="Shape 2"/>
          <p:cNvSpPr/>
          <p:nvPr/>
        </p:nvSpPr>
        <p:spPr>
          <a:xfrm>
            <a:off x="365760" y="1143000"/>
            <a:ext cx="4023360" cy="1508760"/>
          </a:xfrm>
          <a:prstGeom prst="rect">
            <a:avLst/>
          </a:prstGeom>
          <a:solidFill>
            <a:srgbClr val="4A7BA7">
              <a:alpha val="60000"/>
            </a:srgbClr>
          </a:solidFill>
          <a:ln w="12700">
            <a:solidFill>
              <a:srgbClr val="4A7BA7">
                <a:alpha val="80000"/>
              </a:srgbClr>
            </a:solidFill>
            <a:prstDash val="solid"/>
          </a:ln>
          <a:effectLst>
            <a:outerShdw blurRad="101600" dist="38100" dir="8100000" algn="bl" rotWithShape="0">
              <a:srgbClr val="000000">
                <a:alpha val="12000"/>
              </a:srgbClr>
            </a:outerShdw>
          </a:effectLst>
        </p:spPr>
      </p:sp>
      <p:sp>
        <p:nvSpPr>
          <p:cNvPr id="5" name="Text 3"/>
          <p:cNvSpPr/>
          <p:nvPr/>
        </p:nvSpPr>
        <p:spPr>
          <a:xfrm>
            <a:off x="502920" y="1234440"/>
            <a:ext cx="3749040" cy="566928"/>
          </a:xfrm>
          <a:prstGeom prst="rect">
            <a:avLst/>
          </a:prstGeom>
          <a:noFill/>
          <a:ln/>
        </p:spPr>
        <p:txBody>
          <a:bodyPr wrap="square" lIns="0" tIns="0" rIns="0" bIns="0" rtlCol="0" anchor="ctr"/>
          <a:lstStyle/>
          <a:p>
            <a:pPr marL="0" indent="0">
              <a:buNone/>
            </a:pPr>
            <a:r>
              <a:rPr lang="en-US" sz="3200" b="1" dirty="0">
                <a:solidFill>
                  <a:srgbClr val="E8A838"/>
                </a:solidFill>
                <a:latin typeface="Trebuchet MS" pitchFamily="34" charset="0"/>
                <a:ea typeface="Trebuchet MS" pitchFamily="34" charset="-122"/>
                <a:cs typeface="Trebuchet MS" pitchFamily="34" charset="-120"/>
              </a:rPr>
              <a:t>−3.2%</a:t>
            </a:r>
            <a:endParaRPr lang="en-US" sz="3200" dirty="0"/>
          </a:p>
        </p:txBody>
      </p:sp>
      <p:sp>
        <p:nvSpPr>
          <p:cNvPr id="6" name="Text 4"/>
          <p:cNvSpPr/>
          <p:nvPr/>
        </p:nvSpPr>
        <p:spPr>
          <a:xfrm>
            <a:off x="502920" y="1764792"/>
            <a:ext cx="3749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Lower Rent</a:t>
            </a:r>
            <a:endParaRPr lang="en-US" sz="1200" dirty="0"/>
          </a:p>
        </p:txBody>
      </p:sp>
      <p:sp>
        <p:nvSpPr>
          <p:cNvPr id="7" name="Text 5"/>
          <p:cNvSpPr/>
          <p:nvPr/>
        </p:nvSpPr>
        <p:spPr>
          <a:xfrm>
            <a:off x="502920" y="2039112"/>
            <a:ext cx="374904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Permissive zoning tracts have ~3% lower median rent, controlling for income and renter share.</a:t>
            </a:r>
            <a:endParaRPr lang="en-US" sz="1100" dirty="0"/>
          </a:p>
        </p:txBody>
      </p:sp>
      <p:sp>
        <p:nvSpPr>
          <p:cNvPr id="8" name="Shape 6"/>
          <p:cNvSpPr/>
          <p:nvPr/>
        </p:nvSpPr>
        <p:spPr>
          <a:xfrm>
            <a:off x="4709160" y="1143000"/>
            <a:ext cx="4023360" cy="1508760"/>
          </a:xfrm>
          <a:prstGeom prst="rect">
            <a:avLst/>
          </a:prstGeom>
          <a:solidFill>
            <a:srgbClr val="4A7BA7">
              <a:alpha val="60000"/>
            </a:srgbClr>
          </a:solidFill>
          <a:ln w="12700">
            <a:solidFill>
              <a:srgbClr val="4A7BA7">
                <a:alpha val="80000"/>
              </a:srgbClr>
            </a:solidFill>
            <a:prstDash val="solid"/>
          </a:ln>
          <a:effectLst>
            <a:outerShdw blurRad="101600" dist="38100" dir="8100000" algn="bl" rotWithShape="0">
              <a:srgbClr val="000000">
                <a:alpha val="12000"/>
              </a:srgbClr>
            </a:outerShdw>
          </a:effectLst>
        </p:spPr>
      </p:sp>
      <p:sp>
        <p:nvSpPr>
          <p:cNvPr id="9" name="Text 7"/>
          <p:cNvSpPr/>
          <p:nvPr/>
        </p:nvSpPr>
        <p:spPr>
          <a:xfrm>
            <a:off x="4846320" y="1234440"/>
            <a:ext cx="3749040" cy="566928"/>
          </a:xfrm>
          <a:prstGeom prst="rect">
            <a:avLst/>
          </a:prstGeom>
          <a:noFill/>
          <a:ln/>
        </p:spPr>
        <p:txBody>
          <a:bodyPr wrap="square" lIns="0" tIns="0" rIns="0" bIns="0" rtlCol="0" anchor="ctr"/>
          <a:lstStyle/>
          <a:p>
            <a:pPr marL="0" indent="0">
              <a:buNone/>
            </a:pPr>
            <a:r>
              <a:rPr lang="en-US" sz="3200" b="1" dirty="0">
                <a:solidFill>
                  <a:srgbClr val="E8A838"/>
                </a:solidFill>
                <a:latin typeface="Trebuchet MS" pitchFamily="34" charset="0"/>
                <a:ea typeface="Trebuchet MS" pitchFamily="34" charset="-122"/>
                <a:cs typeface="Trebuchet MS" pitchFamily="34" charset="-120"/>
              </a:rPr>
              <a:t>−9.7%</a:t>
            </a:r>
            <a:endParaRPr lang="en-US" sz="3200" dirty="0"/>
          </a:p>
        </p:txBody>
      </p:sp>
      <p:sp>
        <p:nvSpPr>
          <p:cNvPr id="10" name="Text 8"/>
          <p:cNvSpPr/>
          <p:nvPr/>
        </p:nvSpPr>
        <p:spPr>
          <a:xfrm>
            <a:off x="4846320" y="1764792"/>
            <a:ext cx="3749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Lower Home Values</a:t>
            </a:r>
            <a:endParaRPr lang="en-US" sz="1200" dirty="0"/>
          </a:p>
        </p:txBody>
      </p:sp>
      <p:sp>
        <p:nvSpPr>
          <p:cNvPr id="11" name="Text 9"/>
          <p:cNvSpPr/>
          <p:nvPr/>
        </p:nvSpPr>
        <p:spPr>
          <a:xfrm>
            <a:off x="4846320" y="2039112"/>
            <a:ext cx="374904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Tracts with gentle density have significantly lower home values (p &lt; 0.001).</a:t>
            </a:r>
            <a:endParaRPr lang="en-US" sz="1100" dirty="0"/>
          </a:p>
        </p:txBody>
      </p:sp>
      <p:sp>
        <p:nvSpPr>
          <p:cNvPr id="12" name="Shape 10"/>
          <p:cNvSpPr/>
          <p:nvPr/>
        </p:nvSpPr>
        <p:spPr>
          <a:xfrm>
            <a:off x="365760" y="2880360"/>
            <a:ext cx="4023360" cy="1508760"/>
          </a:xfrm>
          <a:prstGeom prst="rect">
            <a:avLst/>
          </a:prstGeom>
          <a:solidFill>
            <a:srgbClr val="4A7BA7">
              <a:alpha val="60000"/>
            </a:srgbClr>
          </a:solidFill>
          <a:ln w="12700">
            <a:solidFill>
              <a:srgbClr val="4A7BA7">
                <a:alpha val="80000"/>
              </a:srgbClr>
            </a:solidFill>
            <a:prstDash val="solid"/>
          </a:ln>
          <a:effectLst>
            <a:outerShdw blurRad="101600" dist="38100" dir="8100000" algn="bl" rotWithShape="0">
              <a:srgbClr val="000000">
                <a:alpha val="12000"/>
              </a:srgbClr>
            </a:outerShdw>
          </a:effectLst>
        </p:spPr>
      </p:sp>
      <p:sp>
        <p:nvSpPr>
          <p:cNvPr id="13" name="Text 11"/>
          <p:cNvSpPr/>
          <p:nvPr/>
        </p:nvSpPr>
        <p:spPr>
          <a:xfrm>
            <a:off x="502920" y="2971800"/>
            <a:ext cx="3749040" cy="566928"/>
          </a:xfrm>
          <a:prstGeom prst="rect">
            <a:avLst/>
          </a:prstGeom>
          <a:noFill/>
          <a:ln/>
        </p:spPr>
        <p:txBody>
          <a:bodyPr wrap="square" lIns="0" tIns="0" rIns="0" bIns="0" rtlCol="0" anchor="ctr"/>
          <a:lstStyle/>
          <a:p>
            <a:pPr marL="0" indent="0">
              <a:buNone/>
            </a:pPr>
            <a:r>
              <a:rPr lang="en-US" sz="3200" b="1" dirty="0">
                <a:solidFill>
                  <a:srgbClr val="E8A838"/>
                </a:solidFill>
                <a:latin typeface="Trebuchet MS" pitchFamily="34" charset="0"/>
                <a:ea typeface="Trebuchet MS" pitchFamily="34" charset="-122"/>
                <a:cs typeface="Trebuchet MS" pitchFamily="34" charset="-120"/>
              </a:rPr>
              <a:t>+30pp</a:t>
            </a:r>
            <a:endParaRPr lang="en-US" sz="3200" dirty="0"/>
          </a:p>
        </p:txBody>
      </p:sp>
      <p:sp>
        <p:nvSpPr>
          <p:cNvPr id="14" name="Text 12"/>
          <p:cNvSpPr/>
          <p:nvPr/>
        </p:nvSpPr>
        <p:spPr>
          <a:xfrm>
            <a:off x="502920" y="3502152"/>
            <a:ext cx="3749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More Multifamily</a:t>
            </a:r>
            <a:endParaRPr lang="en-US" sz="1200" dirty="0"/>
          </a:p>
        </p:txBody>
      </p:sp>
      <p:sp>
        <p:nvSpPr>
          <p:cNvPr id="15" name="Text 13"/>
          <p:cNvSpPr/>
          <p:nvPr/>
        </p:nvSpPr>
        <p:spPr>
          <a:xfrm>
            <a:off x="502920" y="3776472"/>
            <a:ext cx="374904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Permissive zoning strongly predicts a 30 percentage-point higher multifamily share.</a:t>
            </a:r>
            <a:endParaRPr lang="en-US" sz="1100" dirty="0"/>
          </a:p>
        </p:txBody>
      </p:sp>
      <p:sp>
        <p:nvSpPr>
          <p:cNvPr id="16" name="Shape 14"/>
          <p:cNvSpPr/>
          <p:nvPr/>
        </p:nvSpPr>
        <p:spPr>
          <a:xfrm>
            <a:off x="4709160" y="2880360"/>
            <a:ext cx="4023360" cy="1508760"/>
          </a:xfrm>
          <a:prstGeom prst="rect">
            <a:avLst/>
          </a:prstGeom>
          <a:solidFill>
            <a:srgbClr val="4A7BA7">
              <a:alpha val="60000"/>
            </a:srgbClr>
          </a:solidFill>
          <a:ln w="12700">
            <a:solidFill>
              <a:srgbClr val="4A7BA7">
                <a:alpha val="80000"/>
              </a:srgbClr>
            </a:solidFill>
            <a:prstDash val="solid"/>
          </a:ln>
          <a:effectLst>
            <a:outerShdw blurRad="101600" dist="38100" dir="8100000" algn="bl" rotWithShape="0">
              <a:srgbClr val="000000">
                <a:alpha val="12000"/>
              </a:srgbClr>
            </a:outerShdw>
          </a:effectLst>
        </p:spPr>
      </p:sp>
      <p:sp>
        <p:nvSpPr>
          <p:cNvPr id="17" name="Text 15"/>
          <p:cNvSpPr/>
          <p:nvPr/>
        </p:nvSpPr>
        <p:spPr>
          <a:xfrm>
            <a:off x="4846320" y="2971800"/>
            <a:ext cx="3749040" cy="566928"/>
          </a:xfrm>
          <a:prstGeom prst="rect">
            <a:avLst/>
          </a:prstGeom>
          <a:noFill/>
          <a:ln/>
        </p:spPr>
        <p:txBody>
          <a:bodyPr wrap="square" lIns="0" tIns="0" rIns="0" bIns="0" rtlCol="0" anchor="ctr"/>
          <a:lstStyle/>
          <a:p>
            <a:pPr marL="0" indent="0">
              <a:buNone/>
            </a:pPr>
            <a:r>
              <a:rPr lang="en-US" sz="3200" b="1" dirty="0">
                <a:solidFill>
                  <a:srgbClr val="E8A838"/>
                </a:solidFill>
                <a:latin typeface="Trebuchet MS" pitchFamily="34" charset="0"/>
                <a:ea typeface="Trebuchet MS" pitchFamily="34" charset="-122"/>
                <a:cs typeface="Trebuchet MS" pitchFamily="34" charset="-120"/>
              </a:rPr>
              <a:t>R²=0.65</a:t>
            </a:r>
            <a:endParaRPr lang="en-US" sz="3200" dirty="0"/>
          </a:p>
        </p:txBody>
      </p:sp>
      <p:sp>
        <p:nvSpPr>
          <p:cNvPr id="18" name="Text 16"/>
          <p:cNvSpPr/>
          <p:nvPr/>
        </p:nvSpPr>
        <p:spPr>
          <a:xfrm>
            <a:off x="4846320" y="3502152"/>
            <a:ext cx="3749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Model Fit</a:t>
            </a:r>
            <a:endParaRPr lang="en-US" sz="1200" dirty="0"/>
          </a:p>
        </p:txBody>
      </p:sp>
      <p:sp>
        <p:nvSpPr>
          <p:cNvPr id="19" name="Text 17"/>
          <p:cNvSpPr/>
          <p:nvPr/>
        </p:nvSpPr>
        <p:spPr>
          <a:xfrm>
            <a:off x="4846320" y="3776472"/>
            <a:ext cx="374904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Income and poverty rate explain substantial variation alongside the zoning treatment.</a:t>
            </a:r>
            <a:endParaRPr lang="en-US" sz="11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w="12700">
            <a:solidFill>
              <a:srgbClr val="1B3A6B"/>
            </a:solidFill>
            <a:prstDash val="solid"/>
          </a:ln>
        </p:spPr>
      </p:sp>
      <p:sp>
        <p:nvSpPr>
          <p:cNvPr id="3" name="Text 1"/>
          <p:cNvSpPr/>
          <p:nvPr/>
        </p:nvSpPr>
        <p:spPr>
          <a:xfrm>
            <a:off x="457200" y="164592"/>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Regression Models</a:t>
            </a:r>
            <a:endParaRPr lang="en-US" sz="3400" dirty="0"/>
          </a:p>
        </p:txBody>
      </p:sp>
      <p:sp>
        <p:nvSpPr>
          <p:cNvPr id="4" name="Shape 2"/>
          <p:cNvSpPr/>
          <p:nvPr/>
        </p:nvSpPr>
        <p:spPr>
          <a:xfrm>
            <a:off x="365760" y="1143000"/>
            <a:ext cx="8412480" cy="1051560"/>
          </a:xfrm>
          <a:prstGeom prst="rect">
            <a:avLst/>
          </a:prstGeom>
          <a:solidFill>
            <a:srgbClr val="4A7BA7"/>
          </a:solidFill>
          <a:ln w="12700">
            <a:solidFill>
              <a:srgbClr val="4A7BA7"/>
            </a:solidFill>
            <a:prstDash val="solid"/>
          </a:ln>
          <a:effectLst>
            <a:outerShdw blurRad="101600" dist="38100" dir="8100000" algn="bl" rotWithShape="0">
              <a:srgbClr val="000000">
                <a:alpha val="12000"/>
              </a:srgbClr>
            </a:outerShdw>
          </a:effectLst>
        </p:spPr>
      </p:sp>
      <p:sp>
        <p:nvSpPr>
          <p:cNvPr id="5" name="Text 3"/>
          <p:cNvSpPr/>
          <p:nvPr/>
        </p:nvSpPr>
        <p:spPr>
          <a:xfrm>
            <a:off x="502920" y="1234440"/>
            <a:ext cx="1097280" cy="347472"/>
          </a:xfrm>
          <a:prstGeom prst="rect">
            <a:avLst/>
          </a:prstGeom>
          <a:noFill/>
          <a:ln/>
        </p:spPr>
        <p:txBody>
          <a:bodyPr wrap="square" lIns="0" tIns="0" rIns="0" bIns="0" rtlCol="0" anchor="ctr"/>
          <a:lstStyle/>
          <a:p>
            <a:pPr marL="0" indent="0">
              <a:buNone/>
            </a:pPr>
            <a:r>
              <a:rPr lang="en-US" sz="1100" b="1" dirty="0">
                <a:solidFill>
                  <a:srgbClr val="E8A838"/>
                </a:solidFill>
                <a:latin typeface="Calibri" pitchFamily="34" charset="0"/>
                <a:ea typeface="Calibri" pitchFamily="34" charset="-122"/>
                <a:cs typeface="Calibri" pitchFamily="34" charset="-120"/>
              </a:rPr>
              <a:t>Model 1</a:t>
            </a:r>
            <a:endParaRPr lang="en-US" sz="1100" dirty="0"/>
          </a:p>
        </p:txBody>
      </p:sp>
      <p:sp>
        <p:nvSpPr>
          <p:cNvPr id="6" name="Text 4"/>
          <p:cNvSpPr/>
          <p:nvPr/>
        </p:nvSpPr>
        <p:spPr>
          <a:xfrm>
            <a:off x="1508760" y="1216152"/>
            <a:ext cx="3200400" cy="38404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Log Rent</a:t>
            </a:r>
            <a:endParaRPr lang="en-US" sz="1600" dirty="0"/>
          </a:p>
        </p:txBody>
      </p:sp>
      <p:sp>
        <p:nvSpPr>
          <p:cNvPr id="7" name="Text 5"/>
          <p:cNvSpPr/>
          <p:nvPr/>
        </p:nvSpPr>
        <p:spPr>
          <a:xfrm>
            <a:off x="502920" y="1645920"/>
            <a:ext cx="8046720" cy="411480"/>
          </a:xfrm>
          <a:prstGeom prst="rect">
            <a:avLst/>
          </a:prstGeom>
          <a:noFill/>
          <a:ln/>
        </p:spPr>
        <p:txBody>
          <a:bodyPr wrap="square" lIns="0" tIns="0" rIns="0" bIns="0" rtlCol="0" anchor="ctr"/>
          <a:lstStyle/>
          <a:p>
            <a:pPr marL="0" indent="0">
              <a:buNone/>
            </a:pPr>
            <a:r>
              <a:rPr lang="en-US" sz="1300" dirty="0">
                <a:solidFill>
                  <a:srgbClr val="E8A838"/>
                </a:solidFill>
                <a:latin typeface="Consolas" pitchFamily="34" charset="0"/>
                <a:ea typeface="Consolas" pitchFamily="34" charset="-122"/>
                <a:cs typeface="Consolas" pitchFamily="34" charset="-120"/>
              </a:rPr>
              <a:t>log_rent ~ treated_dupac + log_income + renter_share</a:t>
            </a:r>
            <a:endParaRPr lang="en-US" sz="1300" dirty="0"/>
          </a:p>
        </p:txBody>
      </p:sp>
      <p:sp>
        <p:nvSpPr>
          <p:cNvPr id="8" name="Shape 6"/>
          <p:cNvSpPr/>
          <p:nvPr/>
        </p:nvSpPr>
        <p:spPr>
          <a:xfrm>
            <a:off x="365760" y="2377440"/>
            <a:ext cx="8412480" cy="1051560"/>
          </a:xfrm>
          <a:prstGeom prst="rect">
            <a:avLst/>
          </a:prstGeom>
          <a:solidFill>
            <a:srgbClr val="2E7D9F"/>
          </a:solidFill>
          <a:ln w="12700">
            <a:solidFill>
              <a:srgbClr val="2E7D9F"/>
            </a:solidFill>
            <a:prstDash val="solid"/>
          </a:ln>
          <a:effectLst>
            <a:outerShdw blurRad="101600" dist="38100" dir="8100000" algn="bl" rotWithShape="0">
              <a:srgbClr val="000000">
                <a:alpha val="12000"/>
              </a:srgbClr>
            </a:outerShdw>
          </a:effectLst>
        </p:spPr>
      </p:sp>
      <p:sp>
        <p:nvSpPr>
          <p:cNvPr id="9" name="Text 7"/>
          <p:cNvSpPr/>
          <p:nvPr/>
        </p:nvSpPr>
        <p:spPr>
          <a:xfrm>
            <a:off x="502920" y="2468880"/>
            <a:ext cx="1097280" cy="347472"/>
          </a:xfrm>
          <a:prstGeom prst="rect">
            <a:avLst/>
          </a:prstGeom>
          <a:noFill/>
          <a:ln/>
        </p:spPr>
        <p:txBody>
          <a:bodyPr wrap="square" lIns="0" tIns="0" rIns="0" bIns="0" rtlCol="0" anchor="ctr"/>
          <a:lstStyle/>
          <a:p>
            <a:pPr marL="0" indent="0">
              <a:buNone/>
            </a:pPr>
            <a:r>
              <a:rPr lang="en-US" sz="1100" b="1" dirty="0">
                <a:solidFill>
                  <a:srgbClr val="E8A838"/>
                </a:solidFill>
                <a:latin typeface="Calibri" pitchFamily="34" charset="0"/>
                <a:ea typeface="Calibri" pitchFamily="34" charset="-122"/>
                <a:cs typeface="Calibri" pitchFamily="34" charset="-120"/>
              </a:rPr>
              <a:t>Model 2</a:t>
            </a:r>
            <a:endParaRPr lang="en-US" sz="1100" dirty="0"/>
          </a:p>
        </p:txBody>
      </p:sp>
      <p:sp>
        <p:nvSpPr>
          <p:cNvPr id="10" name="Text 8"/>
          <p:cNvSpPr/>
          <p:nvPr/>
        </p:nvSpPr>
        <p:spPr>
          <a:xfrm>
            <a:off x="1508760" y="2450592"/>
            <a:ext cx="3200400" cy="38404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Log House Price</a:t>
            </a:r>
            <a:endParaRPr lang="en-US" sz="1600" dirty="0"/>
          </a:p>
        </p:txBody>
      </p:sp>
      <p:sp>
        <p:nvSpPr>
          <p:cNvPr id="11" name="Text 9"/>
          <p:cNvSpPr/>
          <p:nvPr/>
        </p:nvSpPr>
        <p:spPr>
          <a:xfrm>
            <a:off x="502920" y="2880360"/>
            <a:ext cx="8046720" cy="411480"/>
          </a:xfrm>
          <a:prstGeom prst="rect">
            <a:avLst/>
          </a:prstGeom>
          <a:noFill/>
          <a:ln/>
        </p:spPr>
        <p:txBody>
          <a:bodyPr wrap="square" lIns="0" tIns="0" rIns="0" bIns="0" rtlCol="0" anchor="ctr"/>
          <a:lstStyle/>
          <a:p>
            <a:pPr marL="0" indent="0">
              <a:buNone/>
            </a:pPr>
            <a:r>
              <a:rPr lang="en-US" sz="1300" dirty="0">
                <a:solidFill>
                  <a:srgbClr val="E8A838"/>
                </a:solidFill>
                <a:latin typeface="Consolas" pitchFamily="34" charset="0"/>
                <a:ea typeface="Consolas" pitchFamily="34" charset="-122"/>
                <a:cs typeface="Consolas" pitchFamily="34" charset="-120"/>
              </a:rPr>
              <a:t>log_value ~ treated_dupac + log_income + renter_share</a:t>
            </a:r>
            <a:endParaRPr lang="en-US" sz="1300" dirty="0"/>
          </a:p>
        </p:txBody>
      </p:sp>
      <p:sp>
        <p:nvSpPr>
          <p:cNvPr id="12" name="Shape 10"/>
          <p:cNvSpPr/>
          <p:nvPr/>
        </p:nvSpPr>
        <p:spPr>
          <a:xfrm>
            <a:off x="365760" y="3611880"/>
            <a:ext cx="8412480" cy="1051560"/>
          </a:xfrm>
          <a:prstGeom prst="rect">
            <a:avLst/>
          </a:prstGeom>
          <a:solidFill>
            <a:srgbClr val="1D5E78"/>
          </a:solidFill>
          <a:ln w="12700">
            <a:solidFill>
              <a:srgbClr val="1D5E78"/>
            </a:solidFill>
            <a:prstDash val="solid"/>
          </a:ln>
          <a:effectLst>
            <a:outerShdw blurRad="101600" dist="38100" dir="8100000" algn="bl" rotWithShape="0">
              <a:srgbClr val="000000">
                <a:alpha val="12000"/>
              </a:srgbClr>
            </a:outerShdw>
          </a:effectLst>
        </p:spPr>
      </p:sp>
      <p:sp>
        <p:nvSpPr>
          <p:cNvPr id="13" name="Text 11"/>
          <p:cNvSpPr/>
          <p:nvPr/>
        </p:nvSpPr>
        <p:spPr>
          <a:xfrm>
            <a:off x="502920" y="3703320"/>
            <a:ext cx="1097280" cy="347472"/>
          </a:xfrm>
          <a:prstGeom prst="rect">
            <a:avLst/>
          </a:prstGeom>
          <a:noFill/>
          <a:ln/>
        </p:spPr>
        <p:txBody>
          <a:bodyPr wrap="square" lIns="0" tIns="0" rIns="0" bIns="0" rtlCol="0" anchor="ctr"/>
          <a:lstStyle/>
          <a:p>
            <a:pPr marL="0" indent="0">
              <a:buNone/>
            </a:pPr>
            <a:r>
              <a:rPr lang="en-US" sz="1100" b="1" dirty="0">
                <a:solidFill>
                  <a:srgbClr val="E8A838"/>
                </a:solidFill>
                <a:latin typeface="Calibri" pitchFamily="34" charset="0"/>
                <a:ea typeface="Calibri" pitchFamily="34" charset="-122"/>
                <a:cs typeface="Calibri" pitchFamily="34" charset="-120"/>
              </a:rPr>
              <a:t>Model 3</a:t>
            </a:r>
            <a:endParaRPr lang="en-US" sz="1100" dirty="0"/>
          </a:p>
        </p:txBody>
      </p:sp>
      <p:sp>
        <p:nvSpPr>
          <p:cNvPr id="14" name="Text 12"/>
          <p:cNvSpPr/>
          <p:nvPr/>
        </p:nvSpPr>
        <p:spPr>
          <a:xfrm>
            <a:off x="1508760" y="3685032"/>
            <a:ext cx="3200400" cy="38404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Multifamily Share</a:t>
            </a:r>
            <a:endParaRPr lang="en-US" sz="1600" dirty="0"/>
          </a:p>
        </p:txBody>
      </p:sp>
      <p:sp>
        <p:nvSpPr>
          <p:cNvPr id="15" name="Text 13"/>
          <p:cNvSpPr/>
          <p:nvPr/>
        </p:nvSpPr>
        <p:spPr>
          <a:xfrm>
            <a:off x="502920" y="4114800"/>
            <a:ext cx="8046720" cy="411480"/>
          </a:xfrm>
          <a:prstGeom prst="rect">
            <a:avLst/>
          </a:prstGeom>
          <a:noFill/>
          <a:ln/>
        </p:spPr>
        <p:txBody>
          <a:bodyPr wrap="square" lIns="0" tIns="0" rIns="0" bIns="0" rtlCol="0" anchor="ctr"/>
          <a:lstStyle/>
          <a:p>
            <a:pPr marL="0" indent="0">
              <a:buNone/>
            </a:pPr>
            <a:r>
              <a:rPr lang="en-US" sz="1300" dirty="0">
                <a:solidFill>
                  <a:srgbClr val="E8A838"/>
                </a:solidFill>
                <a:latin typeface="Consolas" pitchFamily="34" charset="0"/>
                <a:ea typeface="Consolas" pitchFamily="34" charset="-122"/>
                <a:cs typeface="Consolas" pitchFamily="34" charset="-120"/>
              </a:rPr>
              <a:t>mf_share ~ treated_dupac + log_income + poverty_rate</a:t>
            </a:r>
            <a:endParaRPr lang="en-US" sz="1300" dirty="0"/>
          </a:p>
        </p:txBody>
      </p:sp>
      <p:sp>
        <p:nvSpPr>
          <p:cNvPr id="16" name="Text 14"/>
          <p:cNvSpPr/>
          <p:nvPr/>
        </p:nvSpPr>
        <p:spPr>
          <a:xfrm>
            <a:off x="457200" y="4754880"/>
            <a:ext cx="82296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All models: OLS · 1,439 observations · ACS 2018 5-year estimates</a:t>
            </a:r>
            <a:endParaRPr lang="en-US" sz="10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w="12700">
            <a:solidFill>
              <a:srgbClr val="1B3A6B"/>
            </a:solidFill>
            <a:prstDash val="solid"/>
          </a:ln>
        </p:spPr>
      </p:sp>
      <p:sp>
        <p:nvSpPr>
          <p:cNvPr id="3" name="Text 1"/>
          <p:cNvSpPr/>
          <p:nvPr/>
        </p:nvSpPr>
        <p:spPr>
          <a:xfrm>
            <a:off x="457200" y="164592"/>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Limitations</a:t>
            </a:r>
            <a:endParaRPr lang="en-US" sz="3400" dirty="0"/>
          </a:p>
        </p:txBody>
      </p:sp>
      <p:sp>
        <p:nvSpPr>
          <p:cNvPr id="4" name="Shape 2"/>
          <p:cNvSpPr/>
          <p:nvPr/>
        </p:nvSpPr>
        <p:spPr>
          <a:xfrm>
            <a:off x="365760" y="1097280"/>
            <a:ext cx="4023360" cy="150876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5" name="Shape 3"/>
          <p:cNvSpPr/>
          <p:nvPr/>
        </p:nvSpPr>
        <p:spPr>
          <a:xfrm>
            <a:off x="365760" y="1097280"/>
            <a:ext cx="109728" cy="1508760"/>
          </a:xfrm>
          <a:prstGeom prst="rect">
            <a:avLst/>
          </a:prstGeom>
          <a:solidFill>
            <a:srgbClr val="E8A838"/>
          </a:solidFill>
          <a:ln w="12700">
            <a:solidFill>
              <a:srgbClr val="E8A838"/>
            </a:solidFill>
            <a:prstDash val="solid"/>
          </a:ln>
        </p:spPr>
      </p:sp>
      <p:sp>
        <p:nvSpPr>
          <p:cNvPr id="6" name="Text 4"/>
          <p:cNvSpPr/>
          <p:nvPr/>
        </p:nvSpPr>
        <p:spPr>
          <a:xfrm>
            <a:off x="594360" y="1207008"/>
            <a:ext cx="3657600" cy="347472"/>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Cross-Sectional Design</a:t>
            </a:r>
            <a:endParaRPr lang="en-US" sz="1300" dirty="0"/>
          </a:p>
        </p:txBody>
      </p:sp>
      <p:sp>
        <p:nvSpPr>
          <p:cNvPr id="7" name="Text 5"/>
          <p:cNvSpPr/>
          <p:nvPr/>
        </p:nvSpPr>
        <p:spPr>
          <a:xfrm>
            <a:off x="594360" y="1572768"/>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Cannot establish causality — unobserved neighborhood characteristics may confound results.</a:t>
            </a:r>
            <a:endParaRPr lang="en-US" sz="1200" dirty="0"/>
          </a:p>
        </p:txBody>
      </p:sp>
      <p:sp>
        <p:nvSpPr>
          <p:cNvPr id="8" name="Shape 6"/>
          <p:cNvSpPr/>
          <p:nvPr/>
        </p:nvSpPr>
        <p:spPr>
          <a:xfrm>
            <a:off x="4754880" y="1097280"/>
            <a:ext cx="4023360" cy="150876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9" name="Shape 7"/>
          <p:cNvSpPr/>
          <p:nvPr/>
        </p:nvSpPr>
        <p:spPr>
          <a:xfrm>
            <a:off x="4754880" y="1097280"/>
            <a:ext cx="109728" cy="1508760"/>
          </a:xfrm>
          <a:prstGeom prst="rect">
            <a:avLst/>
          </a:prstGeom>
          <a:solidFill>
            <a:srgbClr val="E8A838"/>
          </a:solidFill>
          <a:ln w="12700">
            <a:solidFill>
              <a:srgbClr val="E8A838"/>
            </a:solidFill>
            <a:prstDash val="solid"/>
          </a:ln>
        </p:spPr>
      </p:sp>
      <p:sp>
        <p:nvSpPr>
          <p:cNvPr id="10" name="Text 8"/>
          <p:cNvSpPr/>
          <p:nvPr/>
        </p:nvSpPr>
        <p:spPr>
          <a:xfrm>
            <a:off x="4983480" y="1207008"/>
            <a:ext cx="3657600" cy="347472"/>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Indirect Zoning Proxy</a:t>
            </a:r>
            <a:endParaRPr lang="en-US" sz="1300" dirty="0"/>
          </a:p>
        </p:txBody>
      </p:sp>
      <p:sp>
        <p:nvSpPr>
          <p:cNvPr id="11" name="Text 9"/>
          <p:cNvSpPr/>
          <p:nvPr/>
        </p:nvSpPr>
        <p:spPr>
          <a:xfrm>
            <a:off x="4983480" y="1572768"/>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treated_dupac is inferred from built form, not official zoning maps, introducing measurement error.</a:t>
            </a:r>
            <a:endParaRPr lang="en-US" sz="1200" dirty="0"/>
          </a:p>
        </p:txBody>
      </p:sp>
      <p:sp>
        <p:nvSpPr>
          <p:cNvPr id="12" name="Shape 10"/>
          <p:cNvSpPr/>
          <p:nvPr/>
        </p:nvSpPr>
        <p:spPr>
          <a:xfrm>
            <a:off x="365760" y="2834640"/>
            <a:ext cx="4023360" cy="150876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3" name="Shape 11"/>
          <p:cNvSpPr/>
          <p:nvPr/>
        </p:nvSpPr>
        <p:spPr>
          <a:xfrm>
            <a:off x="365760" y="2834640"/>
            <a:ext cx="109728" cy="1508760"/>
          </a:xfrm>
          <a:prstGeom prst="rect">
            <a:avLst/>
          </a:prstGeom>
          <a:solidFill>
            <a:srgbClr val="E8A838"/>
          </a:solidFill>
          <a:ln w="12700">
            <a:solidFill>
              <a:srgbClr val="E8A838"/>
            </a:solidFill>
            <a:prstDash val="solid"/>
          </a:ln>
        </p:spPr>
      </p:sp>
      <p:sp>
        <p:nvSpPr>
          <p:cNvPr id="14" name="Text 12"/>
          <p:cNvSpPr/>
          <p:nvPr/>
        </p:nvSpPr>
        <p:spPr>
          <a:xfrm>
            <a:off x="594360" y="2944368"/>
            <a:ext cx="3657600" cy="347472"/>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ACS Measurement Error</a:t>
            </a:r>
            <a:endParaRPr lang="en-US" sz="1300" dirty="0"/>
          </a:p>
        </p:txBody>
      </p:sp>
      <p:sp>
        <p:nvSpPr>
          <p:cNvPr id="15" name="Text 13"/>
          <p:cNvSpPr/>
          <p:nvPr/>
        </p:nvSpPr>
        <p:spPr>
          <a:xfrm>
            <a:off x="594360" y="3310128"/>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Sampling variability in small tracts may affect estimates, especially for rare housing types.</a:t>
            </a:r>
            <a:endParaRPr lang="en-US" sz="1200" dirty="0"/>
          </a:p>
        </p:txBody>
      </p:sp>
      <p:sp>
        <p:nvSpPr>
          <p:cNvPr id="16" name="Shape 14"/>
          <p:cNvSpPr/>
          <p:nvPr/>
        </p:nvSpPr>
        <p:spPr>
          <a:xfrm>
            <a:off x="4754880" y="2834640"/>
            <a:ext cx="4023360" cy="1508760"/>
          </a:xfrm>
          <a:prstGeom prst="rect">
            <a:avLst/>
          </a:prstGeom>
          <a:solidFill>
            <a:srgbClr val="FFFFFF"/>
          </a:solidFill>
          <a:ln w="12700">
            <a:solidFill>
              <a:srgbClr val="D6E4F0"/>
            </a:solidFill>
            <a:prstDash val="solid"/>
          </a:ln>
          <a:effectLst>
            <a:outerShdw blurRad="101600" dist="38100" dir="8100000" algn="bl" rotWithShape="0">
              <a:srgbClr val="000000">
                <a:alpha val="12000"/>
              </a:srgbClr>
            </a:outerShdw>
          </a:effectLst>
        </p:spPr>
      </p:sp>
      <p:sp>
        <p:nvSpPr>
          <p:cNvPr id="17" name="Shape 15"/>
          <p:cNvSpPr/>
          <p:nvPr/>
        </p:nvSpPr>
        <p:spPr>
          <a:xfrm>
            <a:off x="4754880" y="2834640"/>
            <a:ext cx="109728" cy="1508760"/>
          </a:xfrm>
          <a:prstGeom prst="rect">
            <a:avLst/>
          </a:prstGeom>
          <a:solidFill>
            <a:srgbClr val="E8A838"/>
          </a:solidFill>
          <a:ln w="12700">
            <a:solidFill>
              <a:srgbClr val="E8A838"/>
            </a:solidFill>
            <a:prstDash val="solid"/>
          </a:ln>
        </p:spPr>
      </p:sp>
      <p:sp>
        <p:nvSpPr>
          <p:cNvPr id="18" name="Text 16"/>
          <p:cNvSpPr/>
          <p:nvPr/>
        </p:nvSpPr>
        <p:spPr>
          <a:xfrm>
            <a:off x="4983480" y="2944368"/>
            <a:ext cx="3657600" cy="347472"/>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Missing Private Data</a:t>
            </a:r>
            <a:endParaRPr lang="en-US" sz="1300" dirty="0"/>
          </a:p>
        </p:txBody>
      </p:sp>
      <p:sp>
        <p:nvSpPr>
          <p:cNvPr id="19" name="Text 17"/>
          <p:cNvSpPr/>
          <p:nvPr/>
        </p:nvSpPr>
        <p:spPr>
          <a:xfrm>
            <a:off x="4983480" y="3310128"/>
            <a:ext cx="3657600" cy="8686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CoStar and Warren Group data would enrich analysis but are unavailable without paid subscriptions.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838"/>
          </a:solidFill>
          <a:ln w="12700">
            <a:solidFill>
              <a:srgbClr val="E8A838"/>
            </a:solidFill>
            <a:prstDash val="solid"/>
          </a:ln>
        </p:spPr>
      </p:sp>
      <p:sp>
        <p:nvSpPr>
          <p:cNvPr id="4" name="Text 2"/>
          <p:cNvSpPr/>
          <p:nvPr/>
        </p:nvSpPr>
        <p:spPr>
          <a:xfrm>
            <a:off x="457200" y="457200"/>
            <a:ext cx="8229600" cy="685800"/>
          </a:xfrm>
          <a:prstGeom prst="rect">
            <a:avLst/>
          </a:prstGeom>
          <a:noFill/>
          <a:ln/>
        </p:spPr>
        <p:txBody>
          <a:bodyPr wrap="square" lIns="0" tIns="0" rIns="0" bIns="0"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Conclusion</a:t>
            </a:r>
            <a:endParaRPr lang="en-US" sz="3800" dirty="0"/>
          </a:p>
        </p:txBody>
      </p:sp>
      <p:sp>
        <p:nvSpPr>
          <p:cNvPr id="5" name="Shape 3"/>
          <p:cNvSpPr/>
          <p:nvPr/>
        </p:nvSpPr>
        <p:spPr>
          <a:xfrm>
            <a:off x="457200" y="1188720"/>
            <a:ext cx="2743200" cy="36576"/>
          </a:xfrm>
          <a:prstGeom prst="rect">
            <a:avLst/>
          </a:prstGeom>
          <a:solidFill>
            <a:srgbClr val="E8A838"/>
          </a:solidFill>
          <a:ln w="12700">
            <a:solidFill>
              <a:srgbClr val="E8A838"/>
            </a:solidFill>
            <a:prstDash val="solid"/>
          </a:ln>
        </p:spPr>
      </p:sp>
      <p:sp>
        <p:nvSpPr>
          <p:cNvPr id="6" name="Shape 4"/>
          <p:cNvSpPr/>
          <p:nvPr/>
        </p:nvSpPr>
        <p:spPr>
          <a:xfrm>
            <a:off x="457200" y="1371600"/>
            <a:ext cx="201168" cy="201168"/>
          </a:xfrm>
          <a:prstGeom prst="ellipse">
            <a:avLst/>
          </a:prstGeom>
          <a:solidFill>
            <a:srgbClr val="E8A838"/>
          </a:solidFill>
          <a:ln w="12700">
            <a:solidFill>
              <a:srgbClr val="E8A838"/>
            </a:solidFill>
            <a:prstDash val="solid"/>
          </a:ln>
        </p:spPr>
      </p:sp>
      <p:sp>
        <p:nvSpPr>
          <p:cNvPr id="7" name="Text 5"/>
          <p:cNvSpPr/>
          <p:nvPr/>
        </p:nvSpPr>
        <p:spPr>
          <a:xfrm>
            <a:off x="822960" y="1371600"/>
            <a:ext cx="7863840" cy="457200"/>
          </a:xfrm>
          <a:prstGeom prst="rect">
            <a:avLst/>
          </a:prstGeom>
          <a:noFill/>
          <a:ln/>
        </p:spPr>
        <p:txBody>
          <a:bodyPr wrap="square" lIns="0" tIns="0" rIns="0" bIns="0" rtlCol="0" anchor="ctr"/>
          <a:lstStyle/>
          <a:p>
            <a:pPr marL="0" indent="0">
              <a:buNone/>
            </a:pPr>
            <a:r>
              <a:rPr lang="en-US" sz="1400" dirty="0">
                <a:solidFill>
                  <a:srgbClr val="D6E4F0"/>
                </a:solidFill>
                <a:latin typeface="Calibri" pitchFamily="34" charset="0"/>
                <a:ea typeface="Calibri" pitchFamily="34" charset="-122"/>
                <a:cs typeface="Calibri" pitchFamily="34" charset="-120"/>
              </a:rPr>
              <a:t>Zoning strongly shapes housing supply across Massachusetts census tracts.</a:t>
            </a:r>
            <a:endParaRPr lang="en-US" sz="1400" dirty="0"/>
          </a:p>
        </p:txBody>
      </p:sp>
      <p:sp>
        <p:nvSpPr>
          <p:cNvPr id="8" name="Shape 6"/>
          <p:cNvSpPr/>
          <p:nvPr/>
        </p:nvSpPr>
        <p:spPr>
          <a:xfrm>
            <a:off x="457200" y="2057400"/>
            <a:ext cx="201168" cy="201168"/>
          </a:xfrm>
          <a:prstGeom prst="ellipse">
            <a:avLst/>
          </a:prstGeom>
          <a:solidFill>
            <a:srgbClr val="E8A838"/>
          </a:solidFill>
          <a:ln w="12700">
            <a:solidFill>
              <a:srgbClr val="E8A838"/>
            </a:solidFill>
            <a:prstDash val="solid"/>
          </a:ln>
        </p:spPr>
      </p:sp>
      <p:sp>
        <p:nvSpPr>
          <p:cNvPr id="9" name="Text 7"/>
          <p:cNvSpPr/>
          <p:nvPr/>
        </p:nvSpPr>
        <p:spPr>
          <a:xfrm>
            <a:off x="822960" y="2057400"/>
            <a:ext cx="7863840" cy="457200"/>
          </a:xfrm>
          <a:prstGeom prst="rect">
            <a:avLst/>
          </a:prstGeom>
          <a:noFill/>
          <a:ln/>
        </p:spPr>
        <p:txBody>
          <a:bodyPr wrap="square" lIns="0" tIns="0" rIns="0" bIns="0" rtlCol="0" anchor="ctr"/>
          <a:lstStyle/>
          <a:p>
            <a:pPr marL="0" indent="0">
              <a:buNone/>
            </a:pPr>
            <a:r>
              <a:rPr lang="en-US" sz="1400" dirty="0">
                <a:solidFill>
                  <a:srgbClr val="D6E4F0"/>
                </a:solidFill>
                <a:latin typeface="Calibri" pitchFamily="34" charset="0"/>
                <a:ea typeface="Calibri" pitchFamily="34" charset="-122"/>
                <a:cs typeface="Calibri" pitchFamily="34" charset="-120"/>
              </a:rPr>
              <a:t>More gentle density zoning → significantly more multifamily housing units.</a:t>
            </a:r>
            <a:endParaRPr lang="en-US" sz="1400" dirty="0"/>
          </a:p>
        </p:txBody>
      </p:sp>
      <p:sp>
        <p:nvSpPr>
          <p:cNvPr id="10" name="Shape 8"/>
          <p:cNvSpPr/>
          <p:nvPr/>
        </p:nvSpPr>
        <p:spPr>
          <a:xfrm>
            <a:off x="457200" y="2743200"/>
            <a:ext cx="201168" cy="201168"/>
          </a:xfrm>
          <a:prstGeom prst="ellipse">
            <a:avLst/>
          </a:prstGeom>
          <a:solidFill>
            <a:srgbClr val="E8A838"/>
          </a:solidFill>
          <a:ln w="12700">
            <a:solidFill>
              <a:srgbClr val="E8A838"/>
            </a:solidFill>
            <a:prstDash val="solid"/>
          </a:ln>
        </p:spPr>
      </p:sp>
      <p:sp>
        <p:nvSpPr>
          <p:cNvPr id="11" name="Text 9"/>
          <p:cNvSpPr/>
          <p:nvPr/>
        </p:nvSpPr>
        <p:spPr>
          <a:xfrm>
            <a:off x="822960" y="2743200"/>
            <a:ext cx="7863840" cy="457200"/>
          </a:xfrm>
          <a:prstGeom prst="rect">
            <a:avLst/>
          </a:prstGeom>
          <a:noFill/>
          <a:ln/>
        </p:spPr>
        <p:txBody>
          <a:bodyPr wrap="square" lIns="0" tIns="0" rIns="0" bIns="0" rtlCol="0" anchor="ctr"/>
          <a:lstStyle/>
          <a:p>
            <a:pPr marL="0" indent="0">
              <a:buNone/>
            </a:pPr>
            <a:r>
              <a:rPr lang="sr-Latn-RS" sz="1400" dirty="0" smtClean="0">
                <a:solidFill>
                  <a:srgbClr val="D6E4F0"/>
                </a:solidFill>
                <a:latin typeface="Calibri" pitchFamily="34" charset="0"/>
                <a:ea typeface="Calibri" pitchFamily="34" charset="-122"/>
                <a:cs typeface="Calibri" pitchFamily="34" charset="-120"/>
              </a:rPr>
              <a:t>Areas with more duplexes and small apartments have rent 3.2% lower and home values 9.7% lower than single family dominated neighborhoods. </a:t>
            </a:r>
            <a:endParaRPr lang="en-US" sz="1400" dirty="0"/>
          </a:p>
        </p:txBody>
      </p:sp>
      <p:sp>
        <p:nvSpPr>
          <p:cNvPr id="12" name="Shape 10"/>
          <p:cNvSpPr/>
          <p:nvPr/>
        </p:nvSpPr>
        <p:spPr>
          <a:xfrm>
            <a:off x="457200" y="3429000"/>
            <a:ext cx="201168" cy="201168"/>
          </a:xfrm>
          <a:prstGeom prst="ellipse">
            <a:avLst/>
          </a:prstGeom>
          <a:solidFill>
            <a:srgbClr val="E8A838"/>
          </a:solidFill>
          <a:ln w="12700">
            <a:solidFill>
              <a:srgbClr val="E8A838"/>
            </a:solidFill>
            <a:prstDash val="solid"/>
          </a:ln>
        </p:spPr>
      </p:sp>
      <p:sp>
        <p:nvSpPr>
          <p:cNvPr id="13" name="Text 11"/>
          <p:cNvSpPr/>
          <p:nvPr/>
        </p:nvSpPr>
        <p:spPr>
          <a:xfrm>
            <a:off x="822960" y="3429000"/>
            <a:ext cx="7863840" cy="457200"/>
          </a:xfrm>
          <a:prstGeom prst="rect">
            <a:avLst/>
          </a:prstGeom>
          <a:noFill/>
          <a:ln/>
        </p:spPr>
        <p:txBody>
          <a:bodyPr wrap="square" lIns="0" tIns="0" rIns="0" bIns="0" rtlCol="0" anchor="ctr"/>
          <a:lstStyle/>
          <a:p>
            <a:pPr marL="0" indent="0">
              <a:buNone/>
            </a:pPr>
            <a:r>
              <a:rPr lang="sr-Latn-RS" sz="1400" dirty="0" smtClean="0">
                <a:solidFill>
                  <a:srgbClr val="D6E4F0"/>
                </a:solidFill>
                <a:latin typeface="Calibri" pitchFamily="34" charset="0"/>
                <a:ea typeface="Calibri" pitchFamily="34" charset="-122"/>
                <a:cs typeface="Calibri" pitchFamily="34" charset="-120"/>
              </a:rPr>
              <a:t>Wealthier areas and rent-heavy neighborhoods pay more regardless of zoning type.</a:t>
            </a:r>
            <a:endParaRPr lang="en-US" sz="1400" dirty="0"/>
          </a:p>
        </p:txBody>
      </p:sp>
      <p:sp>
        <p:nvSpPr>
          <p:cNvPr id="14" name="Shape 12"/>
          <p:cNvSpPr/>
          <p:nvPr/>
        </p:nvSpPr>
        <p:spPr>
          <a:xfrm>
            <a:off x="457200" y="4114800"/>
            <a:ext cx="201168" cy="201168"/>
          </a:xfrm>
          <a:prstGeom prst="ellipse">
            <a:avLst/>
          </a:prstGeom>
          <a:solidFill>
            <a:srgbClr val="E8A838"/>
          </a:solidFill>
          <a:ln w="12700">
            <a:solidFill>
              <a:srgbClr val="E8A838"/>
            </a:solidFill>
            <a:prstDash val="solid"/>
          </a:ln>
        </p:spPr>
      </p:sp>
      <p:sp>
        <p:nvSpPr>
          <p:cNvPr id="15" name="Text 13"/>
          <p:cNvSpPr/>
          <p:nvPr/>
        </p:nvSpPr>
        <p:spPr>
          <a:xfrm>
            <a:off x="822960" y="4114800"/>
            <a:ext cx="7863840" cy="457200"/>
          </a:xfrm>
          <a:prstGeom prst="rect">
            <a:avLst/>
          </a:prstGeom>
          <a:noFill/>
          <a:ln/>
        </p:spPr>
        <p:txBody>
          <a:bodyPr wrap="square" lIns="0" tIns="0" rIns="0" bIns="0" rtlCol="0" anchor="ctr"/>
          <a:lstStyle/>
          <a:p>
            <a:pPr marL="0" indent="0">
              <a:buNone/>
            </a:pPr>
            <a:r>
              <a:rPr lang="en-US" sz="1400" dirty="0">
                <a:solidFill>
                  <a:srgbClr val="D6E4F0"/>
                </a:solidFill>
                <a:latin typeface="Calibri" pitchFamily="34" charset="0"/>
                <a:ea typeface="Calibri" pitchFamily="34" charset="-122"/>
                <a:cs typeface="Calibri" pitchFamily="34" charset="-120"/>
              </a:rPr>
              <a:t>Results support expanding permissive zoning as a lever for housing affordability reform.</a:t>
            </a:r>
            <a:endParaRPr lang="en-US" sz="1400" dirty="0"/>
          </a:p>
        </p:txBody>
      </p:sp>
      <p:sp>
        <p:nvSpPr>
          <p:cNvPr id="16" name="Text 14"/>
          <p:cNvSpPr/>
          <p:nvPr/>
        </p:nvSpPr>
        <p:spPr>
          <a:xfrm>
            <a:off x="457200" y="4663440"/>
            <a:ext cx="8229600" cy="320040"/>
          </a:xfrm>
          <a:prstGeom prst="rect">
            <a:avLst/>
          </a:prstGeom>
          <a:noFill/>
          <a:ln/>
        </p:spPr>
        <p:txBody>
          <a:bodyPr wrap="square" lIns="0" tIns="0" rIns="0" bIns="0" rtlCol="0" anchor="ctr"/>
          <a:lstStyle/>
          <a:p>
            <a:pPr marL="0" indent="0">
              <a:buNone/>
            </a:pPr>
            <a:r>
              <a:rPr lang="en-US" sz="1800" b="1" dirty="0">
                <a:solidFill>
                  <a:srgbClr val="E8A838"/>
                </a:solidFill>
                <a:latin typeface="Trebuchet MS" pitchFamily="34" charset="0"/>
                <a:ea typeface="Trebuchet MS" pitchFamily="34" charset="-122"/>
                <a:cs typeface="Trebuchet MS" pitchFamily="34" charset="-120"/>
              </a:rPr>
              <a:t>Thank you!</a:t>
            </a:r>
            <a:endParaRPr lang="en-US" sz="1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851</TotalTime>
  <Words>2061</Words>
  <Application>Microsoft Office PowerPoint</Application>
  <PresentationFormat>On-screen Show (16:9)</PresentationFormat>
  <Paragraphs>219</Paragraphs>
  <Slides>15</Slides>
  <Notes>15</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Consolas</vt:lpstr>
      <vt:lpstr>Helvetica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 Affordability — Massachusetts Zoning Analysis</dc:title>
  <dc:subject>PptxGenJS Presentation</dc:subject>
  <dc:creator>Tara</dc:creator>
  <cp:lastModifiedBy>Tara</cp:lastModifiedBy>
  <cp:revision>28</cp:revision>
  <dcterms:created xsi:type="dcterms:W3CDTF">2026-05-11T16:09:00Z</dcterms:created>
  <dcterms:modified xsi:type="dcterms:W3CDTF">2026-05-12T16:27:00Z</dcterms:modified>
</cp:coreProperties>
</file>